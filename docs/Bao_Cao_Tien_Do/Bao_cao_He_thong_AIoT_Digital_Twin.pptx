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51B24"/>
        </a:solidFill>
        <a:effectLst/>
      </p:bgPr>
    </p:bg>
    <p:spTree>
      <p:nvGrpSpPr>
        <p:cNvPr id="1" name=""/>
        <p:cNvGrpSpPr/>
        <p:nvPr/>
      </p:nvGrpSpPr>
      <p:grpSpPr/>
      <p:sp>
        <p:nvSpPr>
          <p:cNvPr id="2" name="Rectangle 1"/>
          <p:cNvSpPr/>
          <p:nvPr/>
        </p:nvSpPr>
        <p:spPr>
          <a:xfrm>
            <a:off x="731520" y="1645920"/>
            <a:ext cx="182880" cy="347472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645920"/>
            <a:ext cx="10058400" cy="2011680"/>
          </a:xfrm>
          <a:prstGeom prst="rect">
            <a:avLst/>
          </a:prstGeom>
          <a:noFill/>
        </p:spPr>
        <p:txBody>
          <a:bodyPr wrap="square">
            <a:spAutoFit/>
          </a:bodyPr>
          <a:lstStyle/>
          <a:p>
            <a:pPr>
              <a:spcAft>
                <a:spcPts val="1000"/>
              </a:spcAft>
              <a:defRPr sz="1800" b="1">
                <a:solidFill>
                  <a:srgbClr val="2ECC71"/>
                </a:solidFill>
                <a:latin typeface="Arial"/>
              </a:defRPr>
            </a:pPr>
            <a:r>
              <a:t>BÁO CÁO ĐỒ ÁN TỐT NGHIỆP</a:t>
            </a:r>
          </a:p>
          <a:p>
            <a:pPr>
              <a:spcAft>
                <a:spcPts val="1400"/>
              </a:spcAft>
              <a:defRPr sz="3200" b="1">
                <a:solidFill>
                  <a:srgbClr val="FFFFFF"/>
                </a:solidFill>
                <a:latin typeface="Arial"/>
              </a:defRPr>
            </a:pPr>
            <a:r>
              <a:t>ỨNG DỤNG AIoT TRỒNG XÀ LÁCH THỦY CANH NFT</a:t>
            </a:r>
            <a:br/>
            <a:r>
              <a:t>VỚI CÔNG NGHỆ DIGITAL TWIN</a:t>
            </a:r>
          </a:p>
          <a:p>
            <a:pPr>
              <a:defRPr sz="1600">
                <a:solidFill>
                  <a:srgbClr val="B0BEC5"/>
                </a:solidFill>
                <a:latin typeface="Arial"/>
              </a:defRPr>
            </a:pPr>
            <a:r>
              <a:t>Hệ thống giám sát, điều khiển thời gian thực kết hợp AI &amp; Mô phỏng cơ điện tử 3D</a:t>
            </a:r>
          </a:p>
        </p:txBody>
      </p:sp>
      <p:sp>
        <p:nvSpPr>
          <p:cNvPr id="4" name="TextBox 3"/>
          <p:cNvSpPr txBox="1"/>
          <p:nvPr/>
        </p:nvSpPr>
        <p:spPr>
          <a:xfrm>
            <a:off x="1188720" y="4297680"/>
            <a:ext cx="9144000" cy="1371600"/>
          </a:xfrm>
          <a:prstGeom prst="rect">
            <a:avLst/>
          </a:prstGeom>
          <a:noFill/>
        </p:spPr>
        <p:txBody>
          <a:bodyPr wrap="square">
            <a:spAutoFit/>
          </a:bodyPr>
          <a:lstStyle/>
          <a:p>
            <a:pPr>
              <a:lnSpc>
                <a:spcPct val="130000"/>
              </a:lnSpc>
              <a:defRPr sz="1300">
                <a:solidFill>
                  <a:srgbClr val="B0BEC5"/>
                </a:solidFill>
                <a:latin typeface="Arial"/>
              </a:defRPr>
            </a:pPr>
            <a:r>
              <a:t>Sinh viên thực hiện: [Tên Sinh Viên]</a:t>
            </a:r>
            <a:br/>
            <a:r>
              <a:t>Giáo viên hướng dẫn: [Tên GVHD]</a:t>
            </a:r>
            <a:br/>
            <a:r>
              <a:t>Chuyên ngành: Kỹ thuật Điều khiển &amp; Tự động hóa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51B24"/>
        </a:solidFill>
        <a:effectLst/>
      </p:bgPr>
    </p:bg>
    <p:spTree>
      <p:nvGrpSpPr>
        <p:cNvPr id="1" name=""/>
        <p:cNvGrpSpPr/>
        <p:nvPr/>
      </p:nvGrpSpPr>
      <p:grpSpPr/>
      <p:sp>
        <p:nvSpPr>
          <p:cNvPr id="2" name="Rectangle 1"/>
          <p:cNvSpPr/>
          <p:nvPr/>
        </p:nvSpPr>
        <p:spPr>
          <a:xfrm>
            <a:off x="731520" y="365760"/>
            <a:ext cx="137160" cy="73152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320040"/>
            <a:ext cx="9144000" cy="228600"/>
          </a:xfrm>
          <a:prstGeom prst="rect">
            <a:avLst/>
          </a:prstGeom>
          <a:noFill/>
        </p:spPr>
        <p:txBody>
          <a:bodyPr wrap="square" lIns="0" rIns="0" tIns="0" bIns="0">
            <a:spAutoFit/>
          </a:bodyPr>
          <a:lstStyle/>
          <a:p>
            <a:pPr>
              <a:defRPr sz="1000" b="1">
                <a:solidFill>
                  <a:srgbClr val="2ECC71"/>
                </a:solidFill>
                <a:latin typeface="Arial"/>
              </a:defRPr>
            </a:pPr>
            <a:r>
              <a:t>GIỚI THIỆU CHUNG</a:t>
            </a:r>
          </a:p>
        </p:txBody>
      </p:sp>
      <p:sp>
        <p:nvSpPr>
          <p:cNvPr id="4" name="TextBox 3"/>
          <p:cNvSpPr txBox="1"/>
          <p:nvPr/>
        </p:nvSpPr>
        <p:spPr>
          <a:xfrm>
            <a:off x="1005840" y="502920"/>
            <a:ext cx="10058400" cy="548640"/>
          </a:xfrm>
          <a:prstGeom prst="rect">
            <a:avLst/>
          </a:prstGeom>
          <a:noFill/>
        </p:spPr>
        <p:txBody>
          <a:bodyPr wrap="square" lIns="0" rIns="0" tIns="0" bIns="0">
            <a:spAutoFit/>
          </a:bodyPr>
          <a:lstStyle/>
          <a:p>
            <a:pPr>
              <a:defRPr sz="2400" b="1">
                <a:solidFill>
                  <a:srgbClr val="FFFFFF"/>
                </a:solidFill>
                <a:latin typeface="Arial"/>
              </a:defRPr>
            </a:pPr>
            <a:r>
              <a:t>Tổng Quan Đồ Án &amp; Công Nghệ Lõi</a:t>
            </a:r>
          </a:p>
        </p:txBody>
      </p:sp>
      <p:sp>
        <p:nvSpPr>
          <p:cNvPr id="5" name="Rectangle 4"/>
          <p:cNvSpPr/>
          <p:nvPr/>
        </p:nvSpPr>
        <p:spPr>
          <a:xfrm>
            <a:off x="731520" y="1188720"/>
            <a:ext cx="10698480" cy="18288"/>
          </a:xfrm>
          <a:prstGeom prst="rect">
            <a:avLst/>
          </a:prstGeom>
          <a:solidFill>
            <a:srgbClr val="1D26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463040"/>
            <a:ext cx="10698480" cy="731520"/>
          </a:xfrm>
          <a:prstGeom prst="rect">
            <a:avLst/>
          </a:prstGeom>
          <a:noFill/>
        </p:spPr>
        <p:txBody>
          <a:bodyPr wrap="square">
            <a:spAutoFit/>
          </a:bodyPr>
          <a:lstStyle/>
          <a:p>
            <a:pPr>
              <a:spcAft>
                <a:spcPts val="600"/>
              </a:spcAft>
              <a:defRPr sz="1400">
                <a:solidFill>
                  <a:srgbClr val="B0BEC5"/>
                </a:solidFill>
                <a:latin typeface="Arial"/>
              </a:defRPr>
            </a:pPr>
            <a:r>
              <a:t>Đồ án xây dựng một giải pháp nông nghiệp công nghệ cao toàn diện, tích hợp trí tuệ nhân tạo và mô phỏng 3D thời gian thực. Hệ thống được chia thành 3 mảng cốt lõi:</a:t>
            </a:r>
          </a:p>
        </p:txBody>
      </p:sp>
      <p:sp>
        <p:nvSpPr>
          <p:cNvPr id="7" name="Rounded Rectangle 6"/>
          <p:cNvSpPr/>
          <p:nvPr/>
        </p:nvSpPr>
        <p:spPr>
          <a:xfrm>
            <a:off x="731520" y="2377440"/>
            <a:ext cx="3383280" cy="3840480"/>
          </a:xfrm>
          <a:prstGeom prst="roundRect">
            <a:avLst/>
          </a:prstGeom>
          <a:solidFill>
            <a:srgbClr val="1D2632"/>
          </a:solidFill>
          <a:ln w="19050">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514600"/>
            <a:ext cx="3017520" cy="3566160"/>
          </a:xfrm>
          <a:prstGeom prst="rect">
            <a:avLst/>
          </a:prstGeom>
          <a:noFill/>
        </p:spPr>
        <p:txBody>
          <a:bodyPr wrap="square">
            <a:spAutoFit/>
          </a:bodyPr>
          <a:lstStyle/>
          <a:p>
            <a:pPr>
              <a:spcAft>
                <a:spcPts val="800"/>
              </a:spcAft>
              <a:defRPr sz="1600" b="1">
                <a:solidFill>
                  <a:srgbClr val="3498DB"/>
                </a:solidFill>
                <a:latin typeface="Arial"/>
              </a:defRPr>
            </a:pPr>
            <a:r>
              <a:t>1. IoT &amp; Phần Cứng</a:t>
            </a:r>
          </a:p>
          <a:p>
            <a:pPr>
              <a:spcAft>
                <a:spcPts val="400"/>
              </a:spcAft>
              <a:defRPr sz="1200">
                <a:solidFill>
                  <a:srgbClr val="B0BEC5"/>
                </a:solidFill>
                <a:latin typeface="Arial"/>
              </a:defRPr>
            </a:pPr>
            <a:r>
              <a:t>Trạm giám sát ESP32 thu thập các thông số pH, TDS, nhiệt độ, độ ẩm và mực nước bể.</a:t>
            </a:r>
          </a:p>
          <a:p>
            <a:pPr>
              <a:spcAft>
                <a:spcPts val="400"/>
              </a:spcAft>
              <a:defRPr sz="1200">
                <a:solidFill>
                  <a:srgbClr val="B0BEC5"/>
                </a:solidFill>
                <a:latin typeface="Arial"/>
              </a:defRPr>
            </a:pPr>
            <a:r>
              <a:t>Điều khiển chính xác cơ cấu chấp hành bằng tín hiệu PWM (quạt gió, bơm dinh dưỡng) và Relay (bơm chính, sục khí, LED Grow).</a:t>
            </a:r>
          </a:p>
        </p:txBody>
      </p:sp>
      <p:sp>
        <p:nvSpPr>
          <p:cNvPr id="9" name="Rounded Rectangle 8"/>
          <p:cNvSpPr/>
          <p:nvPr/>
        </p:nvSpPr>
        <p:spPr>
          <a:xfrm>
            <a:off x="4389120" y="2377440"/>
            <a:ext cx="3383280" cy="3840480"/>
          </a:xfrm>
          <a:prstGeom prst="roundRect">
            <a:avLst/>
          </a:prstGeom>
          <a:solidFill>
            <a:srgbClr val="1D2632"/>
          </a:solidFill>
          <a:ln w="1905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2514600"/>
            <a:ext cx="3017520" cy="3566160"/>
          </a:xfrm>
          <a:prstGeom prst="rect">
            <a:avLst/>
          </a:prstGeom>
          <a:noFill/>
        </p:spPr>
        <p:txBody>
          <a:bodyPr wrap="square">
            <a:spAutoFit/>
          </a:bodyPr>
          <a:lstStyle/>
          <a:p>
            <a:pPr>
              <a:spcAft>
                <a:spcPts val="800"/>
              </a:spcAft>
              <a:defRPr sz="1600" b="1">
                <a:solidFill>
                  <a:srgbClr val="2ECC71"/>
                </a:solidFill>
                <a:latin typeface="Arial"/>
              </a:defRPr>
            </a:pPr>
            <a:r>
              <a:t>2. AI &amp; FastAPI Backend</a:t>
            </a:r>
          </a:p>
          <a:p>
            <a:pPr>
              <a:spcAft>
                <a:spcPts val="400"/>
              </a:spcAft>
              <a:defRPr sz="1200">
                <a:solidFill>
                  <a:srgbClr val="B0BEC5"/>
                </a:solidFill>
                <a:latin typeface="Arial"/>
              </a:defRPr>
            </a:pPr>
            <a:r>
              <a:t>FastAPI làm trung tâm điều phối dữ liệu MQTT, lưu trữ InfluxDB, đồng bộ WebSocket.</a:t>
            </a:r>
          </a:p>
          <a:p>
            <a:pPr>
              <a:spcAft>
                <a:spcPts val="400"/>
              </a:spcAft>
              <a:defRPr sz="1200">
                <a:solidFill>
                  <a:srgbClr val="B0BEC5"/>
                </a:solidFill>
                <a:latin typeface="Arial"/>
              </a:defRPr>
            </a:pPr>
            <a:r>
              <a:t>Tích hợp mô hình học sâu CNN (MobileNetV2 TFLite) nhận diện bệnh lá và XGBoost Regressor dự báo sinh trưởng.</a:t>
            </a:r>
          </a:p>
        </p:txBody>
      </p:sp>
      <p:sp>
        <p:nvSpPr>
          <p:cNvPr id="11" name="Rounded Rectangle 10"/>
          <p:cNvSpPr/>
          <p:nvPr/>
        </p:nvSpPr>
        <p:spPr>
          <a:xfrm>
            <a:off x="8046720" y="2377440"/>
            <a:ext cx="3383280" cy="3840480"/>
          </a:xfrm>
          <a:prstGeom prst="roundRect">
            <a:avLst/>
          </a:prstGeom>
          <a:solidFill>
            <a:srgbClr val="1D2632"/>
          </a:solidFill>
          <a:ln w="19050">
            <a:solidFill>
              <a:srgbClr val="F1C40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0" y="2514600"/>
            <a:ext cx="3017520" cy="3566160"/>
          </a:xfrm>
          <a:prstGeom prst="rect">
            <a:avLst/>
          </a:prstGeom>
          <a:noFill/>
        </p:spPr>
        <p:txBody>
          <a:bodyPr wrap="square">
            <a:spAutoFit/>
          </a:bodyPr>
          <a:lstStyle/>
          <a:p>
            <a:pPr>
              <a:spcAft>
                <a:spcPts val="800"/>
              </a:spcAft>
              <a:defRPr sz="1600" b="1">
                <a:solidFill>
                  <a:srgbClr val="F1C40F"/>
                </a:solidFill>
                <a:latin typeface="Arial"/>
              </a:defRPr>
            </a:pPr>
            <a:r>
              <a:t>3. Digital Twin 3D</a:t>
            </a:r>
          </a:p>
          <a:p>
            <a:pPr>
              <a:spcAft>
                <a:spcPts val="400"/>
              </a:spcAft>
              <a:defRPr sz="1200">
                <a:solidFill>
                  <a:srgbClr val="B0BEC5"/>
                </a:solidFill>
                <a:latin typeface="Arial"/>
              </a:defRPr>
            </a:pPr>
            <a:r>
              <a:t>Mô hình hóa hệ thống 3D trên Siemens NX MCD (Mechatronics Concept Designer).</a:t>
            </a:r>
          </a:p>
          <a:p>
            <a:pPr>
              <a:spcAft>
                <a:spcPts val="400"/>
              </a:spcAft>
              <a:defRPr sz="1200">
                <a:solidFill>
                  <a:srgbClr val="B0BEC5"/>
                </a:solidFill>
                <a:latin typeface="Arial"/>
              </a:defRPr>
            </a:pPr>
            <a:r>
              <a:t>Đồng bộ hóa 2 chiều thực - ảo qua OPC UA, mô phỏng động học quạt, dòng chảy nước và quá trình lớn lên của cây.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51B24"/>
        </a:solidFill>
        <a:effectLst/>
      </p:bgPr>
    </p:bg>
    <p:spTree>
      <p:nvGrpSpPr>
        <p:cNvPr id="1" name=""/>
        <p:cNvGrpSpPr/>
        <p:nvPr/>
      </p:nvGrpSpPr>
      <p:grpSpPr/>
      <p:sp>
        <p:nvSpPr>
          <p:cNvPr id="2" name="Rectangle 1"/>
          <p:cNvSpPr/>
          <p:nvPr/>
        </p:nvSpPr>
        <p:spPr>
          <a:xfrm>
            <a:off x="731520" y="365760"/>
            <a:ext cx="137160" cy="73152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320040"/>
            <a:ext cx="9144000" cy="228600"/>
          </a:xfrm>
          <a:prstGeom prst="rect">
            <a:avLst/>
          </a:prstGeom>
          <a:noFill/>
        </p:spPr>
        <p:txBody>
          <a:bodyPr wrap="square" lIns="0" rIns="0" tIns="0" bIns="0">
            <a:spAutoFit/>
          </a:bodyPr>
          <a:lstStyle/>
          <a:p>
            <a:pPr>
              <a:defRPr sz="1000" b="1">
                <a:solidFill>
                  <a:srgbClr val="2ECC71"/>
                </a:solidFill>
                <a:latin typeface="Arial"/>
              </a:defRPr>
            </a:pPr>
            <a:r>
              <a:t>KIẾN TRÚC HỆ THỐNG</a:t>
            </a:r>
          </a:p>
        </p:txBody>
      </p:sp>
      <p:sp>
        <p:nvSpPr>
          <p:cNvPr id="4" name="TextBox 3"/>
          <p:cNvSpPr txBox="1"/>
          <p:nvPr/>
        </p:nvSpPr>
        <p:spPr>
          <a:xfrm>
            <a:off x="1005840" y="502920"/>
            <a:ext cx="10058400" cy="548640"/>
          </a:xfrm>
          <a:prstGeom prst="rect">
            <a:avLst/>
          </a:prstGeom>
          <a:noFill/>
        </p:spPr>
        <p:txBody>
          <a:bodyPr wrap="square" lIns="0" rIns="0" tIns="0" bIns="0">
            <a:spAutoFit/>
          </a:bodyPr>
          <a:lstStyle/>
          <a:p>
            <a:pPr>
              <a:defRPr sz="2400" b="1">
                <a:solidFill>
                  <a:srgbClr val="FFFFFF"/>
                </a:solidFill>
                <a:latin typeface="Arial"/>
              </a:defRPr>
            </a:pPr>
            <a:r>
              <a:t>Sơ Đồ Khối Hệ Thống Tổng Thể</a:t>
            </a:r>
          </a:p>
        </p:txBody>
      </p:sp>
      <p:sp>
        <p:nvSpPr>
          <p:cNvPr id="5" name="Rectangle 4"/>
          <p:cNvSpPr/>
          <p:nvPr/>
        </p:nvSpPr>
        <p:spPr>
          <a:xfrm>
            <a:off x="731520" y="1188720"/>
            <a:ext cx="10698480" cy="18288"/>
          </a:xfrm>
          <a:prstGeom prst="rect">
            <a:avLst/>
          </a:prstGeom>
          <a:solidFill>
            <a:srgbClr val="1D26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463040"/>
            <a:ext cx="4389120" cy="4754880"/>
          </a:xfrm>
          <a:prstGeom prst="rect">
            <a:avLst/>
          </a:prstGeom>
          <a:noFill/>
        </p:spPr>
        <p:txBody>
          <a:bodyPr wrap="square">
            <a:spAutoFit/>
          </a:bodyPr>
          <a:lstStyle/>
          <a:p>
            <a:pPr>
              <a:spcAft>
                <a:spcPts val="600"/>
              </a:spcAft>
              <a:defRPr sz="1300">
                <a:solidFill>
                  <a:srgbClr val="FFFFFF"/>
                </a:solidFill>
                <a:latin typeface="Arial"/>
              </a:defRPr>
            </a:pPr>
            <a:r>
              <a:t>**Luồng dữ liệu thu thập &amp; điều khiển:**</a:t>
            </a:r>
          </a:p>
          <a:p>
            <a:pPr>
              <a:spcAft>
                <a:spcPts val="600"/>
              </a:spcAft>
              <a:defRPr sz="1300">
                <a:solidFill>
                  <a:srgbClr val="B0BEC5"/>
                </a:solidFill>
                <a:latin typeface="Arial"/>
              </a:defRPr>
            </a:pPr>
            <a:r>
              <a:t>1. Trạm ESP32-S3 gửi dữ liệu cảm biến qua MQTT lên FastAPI.</a:t>
            </a:r>
          </a:p>
          <a:p>
            <a:pPr>
              <a:spcAft>
                <a:spcPts val="600"/>
              </a:spcAft>
              <a:defRPr sz="1300">
                <a:solidFill>
                  <a:srgbClr val="B0BEC5"/>
                </a:solidFill>
                <a:latin typeface="Arial"/>
              </a:defRPr>
            </a:pPr>
            <a:r>
              <a:t>2. FastAPI lưu dữ liệu chuỗi thời gian vào InfluxDB, đồng thời đẩy lên Web UI qua WebSocket.</a:t>
            </a:r>
          </a:p>
          <a:p>
            <a:pPr>
              <a:spcAft>
                <a:spcPts val="600"/>
              </a:spcAft>
              <a:defRPr sz="1300">
                <a:solidFill>
                  <a:srgbClr val="B0BEC5"/>
                </a:solidFill>
                <a:latin typeface="Arial"/>
              </a:defRPr>
            </a:pPr>
            <a:r>
              <a:t>3. FastAPI cập nhật dữ liệu cảm biến lên OPC UA Server.</a:t>
            </a:r>
          </a:p>
          <a:p>
            <a:pPr>
              <a:spcAft>
                <a:spcPts val="600"/>
              </a:spcAft>
              <a:defRPr sz="1300">
                <a:solidFill>
                  <a:srgbClr val="B0BEC5"/>
                </a:solidFill>
                <a:latin typeface="Arial"/>
              </a:defRPr>
            </a:pPr>
            <a:r>
              <a:t>4. Mô hình Siemens NX MCD kết nối OPC UA Server để đồng bộ hóa hoạt động ảo.</a:t>
            </a:r>
          </a:p>
          <a:p>
            <a:pPr>
              <a:spcAft>
                <a:spcPts val="600"/>
              </a:spcAft>
              <a:defRPr sz="1300">
                <a:solidFill>
                  <a:srgbClr val="B0BEC5"/>
                </a:solidFill>
                <a:latin typeface="Arial"/>
              </a:defRPr>
            </a:pPr>
            <a:r>
              <a:t>5. Ngược lại, lệnh điều khiển từ Web UI được FastAPI ghi vào OPC UA Server và gửi về ESP32 điều khiển thực tế.</a:t>
            </a:r>
          </a:p>
        </p:txBody>
      </p:sp>
      <p:sp>
        <p:nvSpPr>
          <p:cNvPr id="7" name="Rounded Rectangle 6"/>
          <p:cNvSpPr/>
          <p:nvPr/>
        </p:nvSpPr>
        <p:spPr>
          <a:xfrm>
            <a:off x="5486400" y="1645920"/>
            <a:ext cx="1828800" cy="731520"/>
          </a:xfrm>
          <a:prstGeom prst="round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Arial"/>
              </a:defRPr>
            </a:pPr>
            <a:r>
              <a:t>ESP32-S3</a:t>
            </a:r>
            <a:br/>
            <a:r>
              <a:t>(Cảm biến &amp; Relay)</a:t>
            </a:r>
          </a:p>
        </p:txBody>
      </p:sp>
      <p:sp>
        <p:nvSpPr>
          <p:cNvPr id="8" name="Rounded Rectangle 7"/>
          <p:cNvSpPr/>
          <p:nvPr/>
        </p:nvSpPr>
        <p:spPr>
          <a:xfrm>
            <a:off x="7772400" y="1645920"/>
            <a:ext cx="1828800" cy="731520"/>
          </a:xfrm>
          <a:prstGeom prst="round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Arial"/>
              </a:defRPr>
            </a:pPr>
            <a:r>
              <a:t>MQTT Broker</a:t>
            </a:r>
            <a:br/>
            <a:r>
              <a:t>(Mosquitto)</a:t>
            </a:r>
          </a:p>
        </p:txBody>
      </p:sp>
      <p:sp>
        <p:nvSpPr>
          <p:cNvPr id="9" name="Rounded Rectangle 8"/>
          <p:cNvSpPr/>
          <p:nvPr/>
        </p:nvSpPr>
        <p:spPr>
          <a:xfrm>
            <a:off x="10058400" y="1645920"/>
            <a:ext cx="1645920" cy="731520"/>
          </a:xfrm>
          <a:prstGeom prst="round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Arial"/>
              </a:defRPr>
            </a:pPr>
            <a:r>
              <a:t>Web UI</a:t>
            </a:r>
            <a:br/>
            <a:r>
              <a:t>(Dashboard)</a:t>
            </a:r>
          </a:p>
        </p:txBody>
      </p:sp>
      <p:sp>
        <p:nvSpPr>
          <p:cNvPr id="10" name="Rounded Rectangle 9"/>
          <p:cNvSpPr/>
          <p:nvPr/>
        </p:nvSpPr>
        <p:spPr>
          <a:xfrm>
            <a:off x="7772400" y="2926080"/>
            <a:ext cx="1828800" cy="731520"/>
          </a:xfrm>
          <a:prstGeom prst="round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Arial"/>
              </a:defRPr>
            </a:pPr>
            <a:r>
              <a:t>FastAPI Backend</a:t>
            </a:r>
            <a:br/>
            <a:r>
              <a:t>(Bộ điều phối chính)</a:t>
            </a:r>
          </a:p>
        </p:txBody>
      </p:sp>
      <p:sp>
        <p:nvSpPr>
          <p:cNvPr id="11" name="Rounded Rectangle 10"/>
          <p:cNvSpPr/>
          <p:nvPr/>
        </p:nvSpPr>
        <p:spPr>
          <a:xfrm>
            <a:off x="5486400" y="4206240"/>
            <a:ext cx="1828800" cy="731520"/>
          </a:xfrm>
          <a:prstGeom prst="round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Arial"/>
              </a:defRPr>
            </a:pPr>
            <a:r>
              <a:t>InfluxDB</a:t>
            </a:r>
            <a:br/>
            <a:r>
              <a:t>(Time-Series)</a:t>
            </a:r>
          </a:p>
        </p:txBody>
      </p:sp>
      <p:sp>
        <p:nvSpPr>
          <p:cNvPr id="12" name="Rounded Rectangle 11"/>
          <p:cNvSpPr/>
          <p:nvPr/>
        </p:nvSpPr>
        <p:spPr>
          <a:xfrm>
            <a:off x="7772400" y="4206240"/>
            <a:ext cx="1828800" cy="731520"/>
          </a:xfrm>
          <a:prstGeom prst="roundRect">
            <a:avLst/>
          </a:prstGeom>
          <a:solidFill>
            <a:srgbClr val="F1C40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Arial"/>
              </a:defRPr>
            </a:pPr>
            <a:r>
              <a:t>OPC UA Server</a:t>
            </a:r>
            <a:br/>
            <a:r>
              <a:t>(asyncua)</a:t>
            </a:r>
          </a:p>
        </p:txBody>
      </p:sp>
      <p:sp>
        <p:nvSpPr>
          <p:cNvPr id="13" name="Rounded Rectangle 12"/>
          <p:cNvSpPr/>
          <p:nvPr/>
        </p:nvSpPr>
        <p:spPr>
          <a:xfrm>
            <a:off x="10058400" y="4206240"/>
            <a:ext cx="1645920" cy="731520"/>
          </a:xfrm>
          <a:prstGeom prst="round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Arial"/>
              </a:defRPr>
            </a:pPr>
            <a:r>
              <a:t>AI Modules</a:t>
            </a:r>
            <a:br/>
            <a:r>
              <a:t>(CNN &amp; XGBoost)</a:t>
            </a:r>
          </a:p>
        </p:txBody>
      </p:sp>
      <p:sp>
        <p:nvSpPr>
          <p:cNvPr id="14" name="Rounded Rectangle 13"/>
          <p:cNvSpPr/>
          <p:nvPr/>
        </p:nvSpPr>
        <p:spPr>
          <a:xfrm>
            <a:off x="7772400" y="5486400"/>
            <a:ext cx="1828800" cy="731520"/>
          </a:xfrm>
          <a:prstGeom prst="roundRect">
            <a:avLst/>
          </a:prstGeom>
          <a:solidFill>
            <a:srgbClr val="F1C40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Arial"/>
              </a:defRPr>
            </a:pPr>
            <a:r>
              <a:t>Siemens NX MCD</a:t>
            </a:r>
            <a:br/>
            <a:r>
              <a:t>(Mô phỏng 3D)</a:t>
            </a:r>
          </a:p>
        </p:txBody>
      </p:sp>
      <p:sp>
        <p:nvSpPr>
          <p:cNvPr id="15" name="Rectangle 14"/>
          <p:cNvSpPr/>
          <p:nvPr/>
        </p:nvSpPr>
        <p:spPr>
          <a:xfrm>
            <a:off x="7315200" y="1993392"/>
            <a:ext cx="457200" cy="36576"/>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668512" y="2377440"/>
            <a:ext cx="36576" cy="54864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0" y="3566160"/>
            <a:ext cx="1371600" cy="36576"/>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668512" y="3657600"/>
            <a:ext cx="36576" cy="54864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601200" y="3200400"/>
            <a:ext cx="914400" cy="36576"/>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515600" y="2377440"/>
            <a:ext cx="36576" cy="82296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601200" y="3657600"/>
            <a:ext cx="914400" cy="36576"/>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0515600" y="3657600"/>
            <a:ext cx="36576" cy="54864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668512" y="4937760"/>
            <a:ext cx="36576" cy="54864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C3C34"/>
        </a:solidFill>
        <a:effectLst/>
      </p:bgPr>
    </p:bg>
    <p:spTree>
      <p:nvGrpSpPr>
        <p:cNvPr id="1" name=""/>
        <p:cNvGrpSpPr/>
        <p:nvPr/>
      </p:nvGrpSpPr>
      <p:grpSpPr/>
      <p:sp>
        <p:nvSpPr>
          <p:cNvPr id="2" name="TextBox 1"/>
          <p:cNvSpPr txBox="1"/>
          <p:nvPr/>
        </p:nvSpPr>
        <p:spPr>
          <a:xfrm>
            <a:off x="914400" y="2286000"/>
            <a:ext cx="10332720" cy="2743200"/>
          </a:xfrm>
          <a:prstGeom prst="rect">
            <a:avLst/>
          </a:prstGeom>
          <a:noFill/>
        </p:spPr>
        <p:txBody>
          <a:bodyPr wrap="square">
            <a:spAutoFit/>
          </a:bodyPr>
          <a:lstStyle/>
          <a:p>
            <a:pPr>
              <a:spcAft>
                <a:spcPts val="1200"/>
              </a:spcAft>
              <a:defRPr sz="2000" b="1">
                <a:solidFill>
                  <a:srgbClr val="2ECC71"/>
                </a:solidFill>
                <a:latin typeface="Arial"/>
              </a:defRPr>
            </a:pPr>
            <a:r>
              <a:t>PHẦN 1</a:t>
            </a:r>
          </a:p>
          <a:p>
            <a:pPr>
              <a:spcAft>
                <a:spcPts val="1600"/>
              </a:spcAft>
              <a:defRPr sz="3600" b="1">
                <a:solidFill>
                  <a:srgbClr val="FFFFFF"/>
                </a:solidFill>
                <a:latin typeface="Arial"/>
              </a:defRPr>
            </a:pPr>
            <a:r>
              <a:t>FASTAPI BACKEND - BỘ NÃO ĐIỀU PHỐI TRUNG TÂM</a:t>
            </a:r>
          </a:p>
          <a:p>
            <a:pPr>
              <a:defRPr sz="1600">
                <a:solidFill>
                  <a:srgbClr val="B0BEC5"/>
                </a:solidFill>
                <a:latin typeface="Arial"/>
              </a:defRPr>
            </a:pPr>
            <a:r>
              <a:t>Xử lý dữ liệu, kiểm soát thiết bị, tích hợp trí tuệ nhân tạo và đồng bộ hóa thực - ảo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51B24"/>
        </a:solidFill>
        <a:effectLst/>
      </p:bgPr>
    </p:bg>
    <p:spTree>
      <p:nvGrpSpPr>
        <p:cNvPr id="1" name=""/>
        <p:cNvGrpSpPr/>
        <p:nvPr/>
      </p:nvGrpSpPr>
      <p:grpSpPr/>
      <p:sp>
        <p:nvSpPr>
          <p:cNvPr id="2" name="Rectangle 1"/>
          <p:cNvSpPr/>
          <p:nvPr/>
        </p:nvSpPr>
        <p:spPr>
          <a:xfrm>
            <a:off x="731520" y="365760"/>
            <a:ext cx="137160" cy="73152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320040"/>
            <a:ext cx="9144000" cy="228600"/>
          </a:xfrm>
          <a:prstGeom prst="rect">
            <a:avLst/>
          </a:prstGeom>
          <a:noFill/>
        </p:spPr>
        <p:txBody>
          <a:bodyPr wrap="square" lIns="0" rIns="0" tIns="0" bIns="0">
            <a:spAutoFit/>
          </a:bodyPr>
          <a:lstStyle/>
          <a:p>
            <a:pPr>
              <a:defRPr sz="1000" b="1">
                <a:solidFill>
                  <a:srgbClr val="2ECC71"/>
                </a:solidFill>
                <a:latin typeface="Arial"/>
              </a:defRPr>
            </a:pPr>
            <a:r>
              <a:t>PHẦN 1: FASTAPI BACKEND</a:t>
            </a:r>
          </a:p>
        </p:txBody>
      </p:sp>
      <p:sp>
        <p:nvSpPr>
          <p:cNvPr id="4" name="TextBox 3"/>
          <p:cNvSpPr txBox="1"/>
          <p:nvPr/>
        </p:nvSpPr>
        <p:spPr>
          <a:xfrm>
            <a:off x="1005840" y="502920"/>
            <a:ext cx="10058400" cy="548640"/>
          </a:xfrm>
          <a:prstGeom prst="rect">
            <a:avLst/>
          </a:prstGeom>
          <a:noFill/>
        </p:spPr>
        <p:txBody>
          <a:bodyPr wrap="square" lIns="0" rIns="0" tIns="0" bIns="0">
            <a:spAutoFit/>
          </a:bodyPr>
          <a:lstStyle/>
          <a:p>
            <a:pPr>
              <a:defRPr sz="2400" b="1">
                <a:solidFill>
                  <a:srgbClr val="FFFFFF"/>
                </a:solidFill>
                <a:latin typeface="Arial"/>
              </a:defRPr>
            </a:pPr>
            <a:r>
              <a:t>FastAPI - Vai Trò Và Các Đầu Mục Công Việc</a:t>
            </a:r>
          </a:p>
        </p:txBody>
      </p:sp>
      <p:sp>
        <p:nvSpPr>
          <p:cNvPr id="5" name="Rectangle 4"/>
          <p:cNvSpPr/>
          <p:nvPr/>
        </p:nvSpPr>
        <p:spPr>
          <a:xfrm>
            <a:off x="731520" y="1188720"/>
            <a:ext cx="10698480" cy="18288"/>
          </a:xfrm>
          <a:prstGeom prst="rect">
            <a:avLst/>
          </a:prstGeom>
          <a:solidFill>
            <a:srgbClr val="1D26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645920"/>
            <a:ext cx="5120640" cy="4572000"/>
          </a:xfrm>
          <a:prstGeom prst="rect">
            <a:avLst/>
          </a:prstGeom>
          <a:noFill/>
        </p:spPr>
        <p:txBody>
          <a:bodyPr wrap="square">
            <a:spAutoFit/>
          </a:bodyPr>
          <a:lstStyle/>
          <a:p>
            <a:pPr>
              <a:spcAft>
                <a:spcPts val="600"/>
              </a:spcAft>
              <a:defRPr sz="1300">
                <a:solidFill>
                  <a:srgbClr val="FFFFFF"/>
                </a:solidFill>
                <a:latin typeface="Arial"/>
              </a:defRPr>
            </a:pPr>
            <a:r>
              <a:t>**1. Thu thập &amp; Quản lý dữ liệu cảm biến:**</a:t>
            </a:r>
          </a:p>
          <a:p>
            <a:pPr lvl="2">
              <a:spcAft>
                <a:spcPts val="600"/>
              </a:spcAft>
              <a:defRPr sz="1300">
                <a:solidFill>
                  <a:srgbClr val="B0BEC5"/>
                </a:solidFill>
                <a:latin typeface="Arial"/>
              </a:defRPr>
            </a:pPr>
            <a:r>
              <a:t>Lắng nghe luồng dữ liệu MQTT JSON từ ESP32.</a:t>
            </a:r>
          </a:p>
          <a:p>
            <a:pPr lvl="2">
              <a:spcAft>
                <a:spcPts val="600"/>
              </a:spcAft>
              <a:defRPr sz="1300">
                <a:solidFill>
                  <a:srgbClr val="B0BEC5"/>
                </a:solidFill>
                <a:latin typeface="Arial"/>
              </a:defRPr>
            </a:pPr>
            <a:r>
              <a:t>Bóc tách các thông số: Nhiệt độ, độ ẩm, pH, TDS, mực nước.</a:t>
            </a:r>
          </a:p>
          <a:p>
            <a:pPr lvl="2">
              <a:spcAft>
                <a:spcPts val="600"/>
              </a:spcAft>
              <a:defRPr sz="1300">
                <a:solidFill>
                  <a:srgbClr val="B0BEC5"/>
                </a:solidFill>
                <a:latin typeface="Arial"/>
              </a:defRPr>
            </a:pPr>
            <a:r>
              <a:t>Ghi đồng thời dữ liệu vào cơ sở dữ liệu chuỗi thời gian InfluxDB.</a:t>
            </a:r>
          </a:p>
          <a:p>
            <a:pPr>
              <a:spcAft>
                <a:spcPts val="600"/>
              </a:spcAft>
              <a:defRPr sz="1300">
                <a:solidFill>
                  <a:srgbClr val="B0BEC5"/>
                </a:solidFill>
                <a:latin typeface="Arial"/>
              </a:defRPr>
            </a:pPr>
          </a:p>
          <a:p>
            <a:pPr>
              <a:spcAft>
                <a:spcPts val="600"/>
              </a:spcAft>
              <a:defRPr sz="1300">
                <a:solidFill>
                  <a:srgbClr val="FFFFFF"/>
                </a:solidFill>
                <a:latin typeface="Arial"/>
              </a:defRPr>
            </a:pPr>
            <a:r>
              <a:t>**2. Cung cấp API Điều khiển Thiết bị:**</a:t>
            </a:r>
          </a:p>
          <a:p>
            <a:pPr lvl="2">
              <a:spcAft>
                <a:spcPts val="600"/>
              </a:spcAft>
              <a:defRPr sz="1300">
                <a:solidFill>
                  <a:srgbClr val="B0BEC5"/>
                </a:solidFill>
                <a:latin typeface="Arial"/>
              </a:defRPr>
            </a:pPr>
            <a:r>
              <a:t>Nhận lệnh điều khiển (xung PWM, trạng thái bật/tắt Relay) từ Web UI.</a:t>
            </a:r>
          </a:p>
          <a:p>
            <a:pPr lvl="2">
              <a:spcAft>
                <a:spcPts val="600"/>
              </a:spcAft>
              <a:defRPr sz="1300">
                <a:solidFill>
                  <a:srgbClr val="B0BEC5"/>
                </a:solidFill>
                <a:latin typeface="Arial"/>
              </a:defRPr>
            </a:pPr>
            <a:r>
              <a:t>Chuyển tiếp tín hiệu điều khiển xuống ESP32 qua MQTT Broker.</a:t>
            </a:r>
          </a:p>
        </p:txBody>
      </p:sp>
      <p:sp>
        <p:nvSpPr>
          <p:cNvPr id="7" name="TextBox 6"/>
          <p:cNvSpPr txBox="1"/>
          <p:nvPr/>
        </p:nvSpPr>
        <p:spPr>
          <a:xfrm>
            <a:off x="6217920" y="1645920"/>
            <a:ext cx="5212080" cy="4572000"/>
          </a:xfrm>
          <a:prstGeom prst="rect">
            <a:avLst/>
          </a:prstGeom>
          <a:noFill/>
        </p:spPr>
        <p:txBody>
          <a:bodyPr wrap="square">
            <a:spAutoFit/>
          </a:bodyPr>
          <a:lstStyle/>
          <a:p>
            <a:pPr>
              <a:spcAft>
                <a:spcPts val="600"/>
              </a:spcAft>
              <a:defRPr sz="1300">
                <a:solidFill>
                  <a:srgbClr val="FFFFFF"/>
                </a:solidFill>
                <a:latin typeface="Arial"/>
              </a:defRPr>
            </a:pPr>
            <a:r>
              <a:t>**3. Tích hợp AI trực tiếp trên Backend:**</a:t>
            </a:r>
          </a:p>
          <a:p>
            <a:pPr lvl="2">
              <a:spcAft>
                <a:spcPts val="600"/>
              </a:spcAft>
              <a:defRPr sz="1300">
                <a:solidFill>
                  <a:srgbClr val="B0BEC5"/>
                </a:solidFill>
                <a:latin typeface="Arial"/>
              </a:defRPr>
            </a:pPr>
            <a:r>
              <a:t>Endpoint tiếp nhận ảnh tải lên từ Web UI để chạy chẩn đoán bệnh lá (CNN MobileNetV2 - TFLite Interpreter).</a:t>
            </a:r>
          </a:p>
          <a:p>
            <a:pPr lvl="2">
              <a:spcAft>
                <a:spcPts val="600"/>
              </a:spcAft>
              <a:defRPr sz="1300">
                <a:solidFill>
                  <a:srgbClr val="B0BEC5"/>
                </a:solidFill>
                <a:latin typeface="Arial"/>
              </a:defRPr>
            </a:pPr>
            <a:r>
              <a:t>Chạy mô hình hồi quy (XGBoost Regressor) định kỳ để dự báo tiến độ sinh trưởng cây.</a:t>
            </a:r>
          </a:p>
          <a:p>
            <a:pPr>
              <a:spcAft>
                <a:spcPts val="600"/>
              </a:spcAft>
              <a:defRPr sz="1300">
                <a:solidFill>
                  <a:srgbClr val="B0BEC5"/>
                </a:solidFill>
                <a:latin typeface="Arial"/>
              </a:defRPr>
            </a:pPr>
          </a:p>
          <a:p>
            <a:pPr>
              <a:spcAft>
                <a:spcPts val="600"/>
              </a:spcAft>
              <a:defRPr sz="1300">
                <a:solidFill>
                  <a:srgbClr val="FFFFFF"/>
                </a:solidFill>
                <a:latin typeface="Arial"/>
              </a:defRPr>
            </a:pPr>
            <a:r>
              <a:t>**4. Đồng bộ hóa thời gian thực (Real-time Link):**</a:t>
            </a:r>
          </a:p>
          <a:p>
            <a:pPr lvl="2">
              <a:spcAft>
                <a:spcPts val="600"/>
              </a:spcAft>
              <a:defRPr sz="1300">
                <a:solidFill>
                  <a:srgbClr val="B0BEC5"/>
                </a:solidFill>
                <a:latin typeface="Arial"/>
              </a:defRPr>
            </a:pPr>
            <a:r>
              <a:t>Thiết lập WebSocket Server để đẩy tức thời dữ liệu cảm biến mới lên Web UI.</a:t>
            </a:r>
          </a:p>
          <a:p>
            <a:pPr lvl="2">
              <a:spcAft>
                <a:spcPts val="600"/>
              </a:spcAft>
              <a:defRPr sz="1300">
                <a:solidFill>
                  <a:srgbClr val="B0BEC5"/>
                </a:solidFill>
                <a:latin typeface="Arial"/>
              </a:defRPr>
            </a:pPr>
            <a:r>
              <a:t>Kết nối trực tiếp và ghi dữ liệu lên OPC UA Server để đồng bộ hóa trạng thái với mô hình Siemens NX MCD 3D.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51B24"/>
        </a:solidFill>
        <a:effectLst/>
      </p:bgPr>
    </p:bg>
    <p:spTree>
      <p:nvGrpSpPr>
        <p:cNvPr id="1" name=""/>
        <p:cNvGrpSpPr/>
        <p:nvPr/>
      </p:nvGrpSpPr>
      <p:grpSpPr/>
      <p:sp>
        <p:nvSpPr>
          <p:cNvPr id="2" name="Rectangle 1"/>
          <p:cNvSpPr/>
          <p:nvPr/>
        </p:nvSpPr>
        <p:spPr>
          <a:xfrm>
            <a:off x="731520" y="365760"/>
            <a:ext cx="137160" cy="73152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320040"/>
            <a:ext cx="9144000" cy="228600"/>
          </a:xfrm>
          <a:prstGeom prst="rect">
            <a:avLst/>
          </a:prstGeom>
          <a:noFill/>
        </p:spPr>
        <p:txBody>
          <a:bodyPr wrap="square" lIns="0" rIns="0" tIns="0" bIns="0">
            <a:spAutoFit/>
          </a:bodyPr>
          <a:lstStyle/>
          <a:p>
            <a:pPr>
              <a:defRPr sz="1000" b="1">
                <a:solidFill>
                  <a:srgbClr val="2ECC71"/>
                </a:solidFill>
                <a:latin typeface="Arial"/>
              </a:defRPr>
            </a:pPr>
            <a:r>
              <a:t>PHẦN 1: FASTAPI BACKEND</a:t>
            </a:r>
          </a:p>
        </p:txBody>
      </p:sp>
      <p:sp>
        <p:nvSpPr>
          <p:cNvPr id="4" name="TextBox 3"/>
          <p:cNvSpPr txBox="1"/>
          <p:nvPr/>
        </p:nvSpPr>
        <p:spPr>
          <a:xfrm>
            <a:off x="1005840" y="502920"/>
            <a:ext cx="10058400" cy="548640"/>
          </a:xfrm>
          <a:prstGeom prst="rect">
            <a:avLst/>
          </a:prstGeom>
          <a:noFill/>
        </p:spPr>
        <p:txBody>
          <a:bodyPr wrap="square" lIns="0" rIns="0" tIns="0" bIns="0">
            <a:spAutoFit/>
          </a:bodyPr>
          <a:lstStyle/>
          <a:p>
            <a:pPr>
              <a:defRPr sz="2400" b="1">
                <a:solidFill>
                  <a:srgbClr val="FFFFFF"/>
                </a:solidFill>
                <a:latin typeface="Arial"/>
              </a:defRPr>
            </a:pPr>
            <a:r>
              <a:t>Hệ Thống REST API &amp; Kết Nối Đồng Bộ</a:t>
            </a:r>
          </a:p>
        </p:txBody>
      </p:sp>
      <p:sp>
        <p:nvSpPr>
          <p:cNvPr id="5" name="Rectangle 4"/>
          <p:cNvSpPr/>
          <p:nvPr/>
        </p:nvSpPr>
        <p:spPr>
          <a:xfrm>
            <a:off x="731520" y="1188720"/>
            <a:ext cx="10698480" cy="18288"/>
          </a:xfrm>
          <a:prstGeom prst="rect">
            <a:avLst/>
          </a:prstGeom>
          <a:solidFill>
            <a:srgbClr val="1D26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5120640" cy="2194560"/>
          </a:xfrm>
          <a:prstGeom prst="roundRect">
            <a:avLst/>
          </a:prstGeom>
          <a:solidFill>
            <a:srgbClr val="1D2632"/>
          </a:solidFill>
          <a:ln w="1905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83080"/>
            <a:ext cx="4754880" cy="1920240"/>
          </a:xfrm>
          <a:prstGeom prst="rect">
            <a:avLst/>
          </a:prstGeom>
          <a:noFill/>
        </p:spPr>
        <p:txBody>
          <a:bodyPr wrap="square">
            <a:spAutoFit/>
          </a:bodyPr>
          <a:lstStyle/>
          <a:p>
            <a:pPr>
              <a:spcAft>
                <a:spcPts val="800"/>
              </a:spcAft>
              <a:defRPr sz="1600" b="1">
                <a:solidFill>
                  <a:srgbClr val="2ECC71"/>
                </a:solidFill>
                <a:latin typeface="Arial"/>
              </a:defRPr>
            </a:pPr>
            <a:r>
              <a:t>API Điều khiển Thiết bị (Control)</a:t>
            </a:r>
          </a:p>
          <a:p>
            <a:pPr>
              <a:spcAft>
                <a:spcPts val="400"/>
              </a:spcAft>
              <a:defRPr sz="1200">
                <a:solidFill>
                  <a:srgbClr val="B0BEC5"/>
                </a:solidFill>
                <a:latin typeface="Arial"/>
              </a:defRPr>
            </a:pPr>
            <a:r>
              <a:t>POST /api/control/pwm: Điều chỉnh tốc độ quạt thông gió (0-255) và 3 bơm châm dinh dưỡng nhu động.</a:t>
            </a:r>
          </a:p>
          <a:p>
            <a:pPr>
              <a:spcAft>
                <a:spcPts val="400"/>
              </a:spcAft>
              <a:defRPr sz="1200">
                <a:solidFill>
                  <a:srgbClr val="B0BEC5"/>
                </a:solidFill>
                <a:latin typeface="Arial"/>
              </a:defRPr>
            </a:pPr>
            <a:r>
              <a:t>POST /api/control/relay: Bật/tắt bơm chính 220V, máy sục khí oxy bể chứa và 4 cụm đèn LED Grow.</a:t>
            </a:r>
          </a:p>
        </p:txBody>
      </p:sp>
      <p:sp>
        <p:nvSpPr>
          <p:cNvPr id="8" name="Rounded Rectangle 7"/>
          <p:cNvSpPr/>
          <p:nvPr/>
        </p:nvSpPr>
        <p:spPr>
          <a:xfrm>
            <a:off x="731520" y="4114800"/>
            <a:ext cx="5120640" cy="2194560"/>
          </a:xfrm>
          <a:prstGeom prst="roundRect">
            <a:avLst/>
          </a:prstGeom>
          <a:solidFill>
            <a:srgbClr val="1D2632"/>
          </a:solidFill>
          <a:ln w="19050">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251960"/>
            <a:ext cx="4754880" cy="1920240"/>
          </a:xfrm>
          <a:prstGeom prst="rect">
            <a:avLst/>
          </a:prstGeom>
          <a:noFill/>
        </p:spPr>
        <p:txBody>
          <a:bodyPr wrap="square">
            <a:spAutoFit/>
          </a:bodyPr>
          <a:lstStyle/>
          <a:p>
            <a:pPr>
              <a:spcAft>
                <a:spcPts val="800"/>
              </a:spcAft>
              <a:defRPr sz="1600" b="1">
                <a:solidFill>
                  <a:srgbClr val="3498DB"/>
                </a:solidFill>
                <a:latin typeface="Arial"/>
              </a:defRPr>
            </a:pPr>
            <a:r>
              <a:t>API Dữ liệu &amp; AI (Data &amp; AI)</a:t>
            </a:r>
          </a:p>
          <a:p>
            <a:pPr>
              <a:spcAft>
                <a:spcPts val="400"/>
              </a:spcAft>
              <a:defRPr sz="1200">
                <a:solidFill>
                  <a:srgbClr val="B0BEC5"/>
                </a:solidFill>
                <a:latin typeface="Arial"/>
              </a:defRPr>
            </a:pPr>
            <a:r>
              <a:t>GET /api/sensor-data/latest: Lấy các thông số cảm biến mới nhất.</a:t>
            </a:r>
          </a:p>
          <a:p>
            <a:pPr>
              <a:spcAft>
                <a:spcPts val="400"/>
              </a:spcAft>
              <a:defRPr sz="1200">
                <a:solidFill>
                  <a:srgbClr val="B0BEC5"/>
                </a:solidFill>
                <a:latin typeface="Arial"/>
              </a:defRPr>
            </a:pPr>
            <a:r>
              <a:t>POST /api/ai/disease-detect: Nhận file ảnh từ camera để suy diễn bệnh.</a:t>
            </a:r>
          </a:p>
          <a:p>
            <a:pPr>
              <a:spcAft>
                <a:spcPts val="400"/>
              </a:spcAft>
              <a:defRPr sz="1200">
                <a:solidFill>
                  <a:srgbClr val="B0BEC5"/>
                </a:solidFill>
                <a:latin typeface="Arial"/>
              </a:defRPr>
            </a:pPr>
            <a:r>
              <a:t>GET /api/ai/growth-predict: Chạy định kỳ, dự báo % lớn và số ngày thu hoạch.</a:t>
            </a:r>
          </a:p>
        </p:txBody>
      </p:sp>
      <p:sp>
        <p:nvSpPr>
          <p:cNvPr id="10" name="Rounded Rectangle 9"/>
          <p:cNvSpPr/>
          <p:nvPr/>
        </p:nvSpPr>
        <p:spPr>
          <a:xfrm>
            <a:off x="6217920" y="1645920"/>
            <a:ext cx="5212080" cy="4663440"/>
          </a:xfrm>
          <a:prstGeom prst="roundRect">
            <a:avLst/>
          </a:prstGeom>
          <a:solidFill>
            <a:srgbClr val="1D2632"/>
          </a:solidFill>
          <a:ln w="19050">
            <a:solidFill>
              <a:srgbClr val="F1C40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783080"/>
            <a:ext cx="4846320" cy="4389120"/>
          </a:xfrm>
          <a:prstGeom prst="rect">
            <a:avLst/>
          </a:prstGeom>
          <a:noFill/>
        </p:spPr>
        <p:txBody>
          <a:bodyPr wrap="square">
            <a:spAutoFit/>
          </a:bodyPr>
          <a:lstStyle/>
          <a:p>
            <a:pPr>
              <a:spcAft>
                <a:spcPts val="800"/>
              </a:spcAft>
              <a:defRPr sz="1600" b="1">
                <a:solidFill>
                  <a:srgbClr val="F1C40F"/>
                </a:solidFill>
                <a:latin typeface="Arial"/>
              </a:defRPr>
            </a:pPr>
            <a:r>
              <a:t>Cơ Chế Đồng Bộ Hóa Dữ Liệu</a:t>
            </a:r>
          </a:p>
          <a:p>
            <a:pPr>
              <a:spcAft>
                <a:spcPts val="400"/>
              </a:spcAft>
              <a:defRPr sz="1200">
                <a:solidFill>
                  <a:srgbClr val="B0BEC5"/>
                </a:solidFill>
                <a:latin typeface="Arial"/>
              </a:defRPr>
            </a:pPr>
            <a:r>
              <a:t>**Kết nối WebSocket:**</a:t>
            </a:r>
          </a:p>
          <a:p>
            <a:pPr>
              <a:spcAft>
                <a:spcPts val="400"/>
              </a:spcAft>
              <a:defRPr sz="1200">
                <a:solidFill>
                  <a:srgbClr val="B0BEC5"/>
                </a:solidFill>
                <a:latin typeface="Arial"/>
              </a:defRPr>
            </a:pPr>
            <a:r>
              <a:t>  - Tạo kết nối song song, giữ trạng thái liên tục giữa FastAPI và Web UI.</a:t>
            </a:r>
          </a:p>
          <a:p>
            <a:pPr>
              <a:spcAft>
                <a:spcPts val="400"/>
              </a:spcAft>
              <a:defRPr sz="1200">
                <a:solidFill>
                  <a:srgbClr val="B0BEC5"/>
                </a:solidFill>
                <a:latin typeface="Arial"/>
              </a:defRPr>
            </a:pPr>
            <a:r>
              <a:t>  - Cảm biến cập nhật mỗi 30s được đẩy ngay lập tức mà không cần tải lại trang.</a:t>
            </a:r>
          </a:p>
          <a:p>
            <a:pPr>
              <a:spcAft>
                <a:spcPts val="400"/>
              </a:spcAft>
              <a:defRPr sz="1200">
                <a:solidFill>
                  <a:srgbClr val="B0BEC5"/>
                </a:solidFill>
                <a:latin typeface="Arial"/>
              </a:defRPr>
            </a:pPr>
          </a:p>
          <a:p>
            <a:pPr>
              <a:spcAft>
                <a:spcPts val="400"/>
              </a:spcAft>
              <a:defRPr sz="1200">
                <a:solidFill>
                  <a:srgbClr val="B0BEC5"/>
                </a:solidFill>
                <a:latin typeface="Arial"/>
              </a:defRPr>
            </a:pPr>
            <a:r>
              <a:t>**Kết nối OPC UA Bridge:**</a:t>
            </a:r>
          </a:p>
          <a:p>
            <a:pPr>
              <a:spcAft>
                <a:spcPts val="400"/>
              </a:spcAft>
              <a:defRPr sz="1200">
                <a:solidFill>
                  <a:srgbClr val="B0BEC5"/>
                </a:solidFill>
                <a:latin typeface="Arial"/>
              </a:defRPr>
            </a:pPr>
            <a:r>
              <a:t>  - Tích hợp client kết nối vào Python OPC UA Server.</a:t>
            </a:r>
          </a:p>
          <a:p>
            <a:pPr>
              <a:spcAft>
                <a:spcPts val="400"/>
              </a:spcAft>
              <a:defRPr sz="1200">
                <a:solidFill>
                  <a:srgbClr val="B0BEC5"/>
                </a:solidFill>
                <a:latin typeface="Arial"/>
              </a:defRPr>
            </a:pPr>
            <a:r>
              <a:t>  - Tự động đồng bộ các Node: Trạng thái quạt quay, bơm chảy, đèn sáng, mực nước bể sang phần mềm mô phỏng 3D Siemens NX MCD.</a:t>
            </a:r>
          </a:p>
          <a:p>
            <a:pPr>
              <a:spcAft>
                <a:spcPts val="400"/>
              </a:spcAft>
              <a:defRPr sz="1200">
                <a:solidFill>
                  <a:srgbClr val="B0BEC5"/>
                </a:solidFill>
                <a:latin typeface="Arial"/>
              </a:defRPr>
            </a:pPr>
            <a:r>
              <a:t>  - Đảm bảo độ trễ truyền thông &lt; 100ms cho việc giám sát ảo.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C3C34"/>
        </a:solidFill>
        <a:effectLst/>
      </p:bgPr>
    </p:bg>
    <p:spTree>
      <p:nvGrpSpPr>
        <p:cNvPr id="1" name=""/>
        <p:cNvGrpSpPr/>
        <p:nvPr/>
      </p:nvGrpSpPr>
      <p:grpSpPr/>
      <p:sp>
        <p:nvSpPr>
          <p:cNvPr id="2" name="TextBox 1"/>
          <p:cNvSpPr txBox="1"/>
          <p:nvPr/>
        </p:nvSpPr>
        <p:spPr>
          <a:xfrm>
            <a:off x="914400" y="2286000"/>
            <a:ext cx="10332720" cy="2743200"/>
          </a:xfrm>
          <a:prstGeom prst="rect">
            <a:avLst/>
          </a:prstGeom>
          <a:noFill/>
        </p:spPr>
        <p:txBody>
          <a:bodyPr wrap="square">
            <a:spAutoFit/>
          </a:bodyPr>
          <a:lstStyle/>
          <a:p>
            <a:pPr>
              <a:spcAft>
                <a:spcPts val="1200"/>
              </a:spcAft>
              <a:defRPr sz="2000" b="1">
                <a:solidFill>
                  <a:srgbClr val="2ECC71"/>
                </a:solidFill>
                <a:latin typeface="Arial"/>
              </a:defRPr>
            </a:pPr>
            <a:r>
              <a:t>PHẦN 2</a:t>
            </a:r>
          </a:p>
          <a:p>
            <a:pPr>
              <a:spcAft>
                <a:spcPts val="1600"/>
              </a:spcAft>
              <a:defRPr sz="3600" b="1">
                <a:solidFill>
                  <a:srgbClr val="FFFFFF"/>
                </a:solidFill>
                <a:latin typeface="Arial"/>
              </a:defRPr>
            </a:pPr>
            <a:r>
              <a:t>INFLUXDB TIME-SERIES &amp; GIAO DIỆN WEB UI</a:t>
            </a:r>
          </a:p>
          <a:p>
            <a:pPr>
              <a:defRPr sz="1600">
                <a:solidFill>
                  <a:srgbClr val="B0BEC5"/>
                </a:solidFill>
                <a:latin typeface="Arial"/>
              </a:defRPr>
            </a:pPr>
            <a:r>
              <a:t>Lưu trữ dữ liệu chuỗi thời gian hiệu năng cao và Dashboard giám sát trực quan hóa 2D/AI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51B24"/>
        </a:solidFill>
        <a:effectLst/>
      </p:bgPr>
    </p:bg>
    <p:spTree>
      <p:nvGrpSpPr>
        <p:cNvPr id="1" name=""/>
        <p:cNvGrpSpPr/>
        <p:nvPr/>
      </p:nvGrpSpPr>
      <p:grpSpPr/>
      <p:sp>
        <p:nvSpPr>
          <p:cNvPr id="2" name="Rectangle 1"/>
          <p:cNvSpPr/>
          <p:nvPr/>
        </p:nvSpPr>
        <p:spPr>
          <a:xfrm>
            <a:off x="731520" y="365760"/>
            <a:ext cx="137160" cy="73152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320040"/>
            <a:ext cx="9144000" cy="228600"/>
          </a:xfrm>
          <a:prstGeom prst="rect">
            <a:avLst/>
          </a:prstGeom>
          <a:noFill/>
        </p:spPr>
        <p:txBody>
          <a:bodyPr wrap="square" lIns="0" rIns="0" tIns="0" bIns="0">
            <a:spAutoFit/>
          </a:bodyPr>
          <a:lstStyle/>
          <a:p>
            <a:pPr>
              <a:defRPr sz="1000" b="1">
                <a:solidFill>
                  <a:srgbClr val="2ECC71"/>
                </a:solidFill>
                <a:latin typeface="Arial"/>
              </a:defRPr>
            </a:pPr>
            <a:r>
              <a:t>PHẦN 2: CƠ SỞ DỮ LIỆU</a:t>
            </a:r>
          </a:p>
        </p:txBody>
      </p:sp>
      <p:sp>
        <p:nvSpPr>
          <p:cNvPr id="4" name="TextBox 3"/>
          <p:cNvSpPr txBox="1"/>
          <p:nvPr/>
        </p:nvSpPr>
        <p:spPr>
          <a:xfrm>
            <a:off x="1005840" y="502920"/>
            <a:ext cx="10058400" cy="548640"/>
          </a:xfrm>
          <a:prstGeom prst="rect">
            <a:avLst/>
          </a:prstGeom>
          <a:noFill/>
        </p:spPr>
        <p:txBody>
          <a:bodyPr wrap="square" lIns="0" rIns="0" tIns="0" bIns="0">
            <a:spAutoFit/>
          </a:bodyPr>
          <a:lstStyle/>
          <a:p>
            <a:pPr>
              <a:defRPr sz="2400" b="1">
                <a:solidFill>
                  <a:srgbClr val="FFFFFF"/>
                </a:solidFill>
                <a:latin typeface="Arial"/>
              </a:defRPr>
            </a:pPr>
            <a:r>
              <a:t>Cấu Trúc Cơ Sở Dữ Liệu InfluxDB (Schema Design)</a:t>
            </a:r>
          </a:p>
        </p:txBody>
      </p:sp>
      <p:sp>
        <p:nvSpPr>
          <p:cNvPr id="5" name="Rectangle 4"/>
          <p:cNvSpPr/>
          <p:nvPr/>
        </p:nvSpPr>
        <p:spPr>
          <a:xfrm>
            <a:off x="731520" y="1188720"/>
            <a:ext cx="10698480" cy="18288"/>
          </a:xfrm>
          <a:prstGeom prst="rect">
            <a:avLst/>
          </a:prstGeom>
          <a:solidFill>
            <a:srgbClr val="1D26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463040"/>
            <a:ext cx="10698480" cy="1097280"/>
          </a:xfrm>
          <a:prstGeom prst="rect">
            <a:avLst/>
          </a:prstGeom>
          <a:noFill/>
        </p:spPr>
        <p:txBody>
          <a:bodyPr wrap="square">
            <a:spAutoFit/>
          </a:bodyPr>
          <a:lstStyle/>
          <a:p>
            <a:pPr>
              <a:spcAft>
                <a:spcPts val="600"/>
              </a:spcAft>
              <a:defRPr sz="1300">
                <a:solidFill>
                  <a:srgbClr val="FFFFFF"/>
                </a:solidFill>
                <a:latin typeface="Arial"/>
              </a:defRPr>
            </a:pPr>
            <a:r>
              <a:t>**Tại sao chọn InfluxDB?**</a:t>
            </a:r>
          </a:p>
          <a:p>
            <a:pPr lvl="2">
              <a:spcAft>
                <a:spcPts val="600"/>
              </a:spcAft>
              <a:defRPr sz="1300">
                <a:solidFill>
                  <a:srgbClr val="B0BEC5"/>
                </a:solidFill>
                <a:latin typeface="Arial"/>
              </a:defRPr>
            </a:pPr>
            <a:r>
              <a:t>Tối ưu hóa ghi dữ liệu tần suất cao liên tục với mốc thời gian (timestamp).</a:t>
            </a:r>
          </a:p>
          <a:p>
            <a:pPr lvl="2">
              <a:spcAft>
                <a:spcPts val="600"/>
              </a:spcAft>
              <a:defRPr sz="1300">
                <a:solidFill>
                  <a:srgbClr val="B0BEC5"/>
                </a:solidFill>
                <a:latin typeface="Arial"/>
              </a:defRPr>
            </a:pPr>
            <a:r>
              <a:t>Hiệu năng vượt trội so với SQL truyền thống đối với ứng dụng giám sát IoT.</a:t>
            </a:r>
          </a:p>
          <a:p>
            <a:pPr lvl="2">
              <a:spcAft>
                <a:spcPts val="600"/>
              </a:spcAft>
              <a:defRPr sz="1300">
                <a:solidFill>
                  <a:srgbClr val="B0BEC5"/>
                </a:solidFill>
                <a:latin typeface="Arial"/>
              </a:defRPr>
            </a:pPr>
            <a:r>
              <a:t>Hỗ trợ ngôn ngữ truy vấn Flux mạnh mẽ để tính toán trung bình, lọc nhiễu dữ liệu.</a:t>
            </a:r>
          </a:p>
        </p:txBody>
      </p:sp>
      <p:sp>
        <p:nvSpPr>
          <p:cNvPr id="7" name="Rounded Rectangle 6"/>
          <p:cNvSpPr/>
          <p:nvPr/>
        </p:nvSpPr>
        <p:spPr>
          <a:xfrm>
            <a:off x="731520" y="2743200"/>
            <a:ext cx="3383280" cy="3474720"/>
          </a:xfrm>
          <a:prstGeom prst="roundRect">
            <a:avLst/>
          </a:prstGeom>
          <a:solidFill>
            <a:srgbClr val="1D2632"/>
          </a:solidFill>
          <a:ln w="19050">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880360"/>
            <a:ext cx="3017520" cy="3200400"/>
          </a:xfrm>
          <a:prstGeom prst="rect">
            <a:avLst/>
          </a:prstGeom>
          <a:noFill/>
        </p:spPr>
        <p:txBody>
          <a:bodyPr wrap="square">
            <a:spAutoFit/>
          </a:bodyPr>
          <a:lstStyle/>
          <a:p>
            <a:pPr>
              <a:spcAft>
                <a:spcPts val="800"/>
              </a:spcAft>
              <a:defRPr sz="1600" b="1">
                <a:solidFill>
                  <a:srgbClr val="3498DB"/>
                </a:solidFill>
                <a:latin typeface="Arial"/>
              </a:defRPr>
            </a:pPr>
            <a:r>
              <a:t>Measurement: sensor_data</a:t>
            </a:r>
          </a:p>
          <a:p>
            <a:pPr>
              <a:spcAft>
                <a:spcPts val="400"/>
              </a:spcAft>
              <a:defRPr sz="1200">
                <a:solidFill>
                  <a:srgbClr val="B0BEC5"/>
                </a:solidFill>
                <a:latin typeface="Arial"/>
              </a:defRPr>
            </a:pPr>
            <a:r>
              <a:t>Lưu trữ dữ liệu môi trường từ các cảm biến.</a:t>
            </a:r>
          </a:p>
          <a:p>
            <a:pPr>
              <a:spcAft>
                <a:spcPts val="400"/>
              </a:spcAft>
              <a:defRPr sz="1200">
                <a:solidFill>
                  <a:srgbClr val="B0BEC5"/>
                </a:solidFill>
                <a:latin typeface="Arial"/>
              </a:defRPr>
            </a:pPr>
            <a:r>
              <a:t>**Fields (Dữ liệu số):**</a:t>
            </a:r>
          </a:p>
          <a:p>
            <a:pPr>
              <a:spcAft>
                <a:spcPts val="400"/>
              </a:spcAft>
              <a:defRPr sz="1200">
                <a:solidFill>
                  <a:srgbClr val="B0BEC5"/>
                </a:solidFill>
                <a:latin typeface="Arial"/>
              </a:defRPr>
            </a:pPr>
            <a:r>
              <a:t>  - air_temp (nhiệt độ khí)</a:t>
            </a:r>
          </a:p>
          <a:p>
            <a:pPr>
              <a:spcAft>
                <a:spcPts val="400"/>
              </a:spcAft>
              <a:defRPr sz="1200">
                <a:solidFill>
                  <a:srgbClr val="B0BEC5"/>
                </a:solidFill>
                <a:latin typeface="Arial"/>
              </a:defRPr>
            </a:pPr>
            <a:r>
              <a:t>  - air_humidity (độ ẩm khí)</a:t>
            </a:r>
          </a:p>
          <a:p>
            <a:pPr>
              <a:spcAft>
                <a:spcPts val="400"/>
              </a:spcAft>
              <a:defRPr sz="1200">
                <a:solidFill>
                  <a:srgbClr val="B0BEC5"/>
                </a:solidFill>
                <a:latin typeface="Arial"/>
              </a:defRPr>
            </a:pPr>
            <a:r>
              <a:t>  - water_temp (nhiệt độ nước)</a:t>
            </a:r>
          </a:p>
          <a:p>
            <a:pPr>
              <a:spcAft>
                <a:spcPts val="400"/>
              </a:spcAft>
              <a:defRPr sz="1200">
                <a:solidFill>
                  <a:srgbClr val="B0BEC5"/>
                </a:solidFill>
                <a:latin typeface="Arial"/>
              </a:defRPr>
            </a:pPr>
            <a:r>
              <a:t>  - tds (nồng độ dinh dưỡng)</a:t>
            </a:r>
          </a:p>
          <a:p>
            <a:pPr>
              <a:spcAft>
                <a:spcPts val="400"/>
              </a:spcAft>
              <a:defRPr sz="1200">
                <a:solidFill>
                  <a:srgbClr val="B0BEC5"/>
                </a:solidFill>
                <a:latin typeface="Arial"/>
              </a:defRPr>
            </a:pPr>
            <a:r>
              <a:t>  - ph (độ kiềm/axit)</a:t>
            </a:r>
          </a:p>
          <a:p>
            <a:pPr>
              <a:spcAft>
                <a:spcPts val="400"/>
              </a:spcAft>
              <a:defRPr sz="1200">
                <a:solidFill>
                  <a:srgbClr val="B0BEC5"/>
                </a:solidFill>
                <a:latin typeface="Arial"/>
              </a:defRPr>
            </a:pPr>
            <a:r>
              <a:t>  - light_intensity (cường độ sáng)</a:t>
            </a:r>
          </a:p>
          <a:p>
            <a:pPr>
              <a:spcAft>
                <a:spcPts val="400"/>
              </a:spcAft>
              <a:defRPr sz="1200">
                <a:solidFill>
                  <a:srgbClr val="B0BEC5"/>
                </a:solidFill>
                <a:latin typeface="Arial"/>
              </a:defRPr>
            </a:pPr>
            <a:r>
              <a:t>**Tags (Chỉ mục tìm kiếm):**</a:t>
            </a:r>
          </a:p>
          <a:p>
            <a:pPr>
              <a:spcAft>
                <a:spcPts val="400"/>
              </a:spcAft>
              <a:defRPr sz="1200">
                <a:solidFill>
                  <a:srgbClr val="B0BEC5"/>
                </a:solidFill>
                <a:latin typeface="Arial"/>
              </a:defRPr>
            </a:pPr>
            <a:r>
              <a:t>  - device_id="esp32_01"</a:t>
            </a:r>
          </a:p>
          <a:p>
            <a:pPr>
              <a:spcAft>
                <a:spcPts val="400"/>
              </a:spcAft>
              <a:defRPr sz="1200">
                <a:solidFill>
                  <a:srgbClr val="B0BEC5"/>
                </a:solidFill>
                <a:latin typeface="Arial"/>
              </a:defRPr>
            </a:pPr>
            <a:r>
              <a:t>  - location="nft_rack_1"</a:t>
            </a:r>
          </a:p>
        </p:txBody>
      </p:sp>
      <p:sp>
        <p:nvSpPr>
          <p:cNvPr id="9" name="Rounded Rectangle 8"/>
          <p:cNvSpPr/>
          <p:nvPr/>
        </p:nvSpPr>
        <p:spPr>
          <a:xfrm>
            <a:off x="4389120" y="2743200"/>
            <a:ext cx="3383280" cy="3474720"/>
          </a:xfrm>
          <a:prstGeom prst="roundRect">
            <a:avLst/>
          </a:prstGeom>
          <a:solidFill>
            <a:srgbClr val="1D2632"/>
          </a:solidFill>
          <a:ln w="1905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2880360"/>
            <a:ext cx="3017520" cy="3200400"/>
          </a:xfrm>
          <a:prstGeom prst="rect">
            <a:avLst/>
          </a:prstGeom>
          <a:noFill/>
        </p:spPr>
        <p:txBody>
          <a:bodyPr wrap="square">
            <a:spAutoFit/>
          </a:bodyPr>
          <a:lstStyle/>
          <a:p>
            <a:pPr>
              <a:spcAft>
                <a:spcPts val="800"/>
              </a:spcAft>
              <a:defRPr sz="1600" b="1">
                <a:solidFill>
                  <a:srgbClr val="2ECC71"/>
                </a:solidFill>
                <a:latin typeface="Arial"/>
              </a:defRPr>
            </a:pPr>
            <a:r>
              <a:t>Measurement: actuator_status</a:t>
            </a:r>
          </a:p>
          <a:p>
            <a:pPr>
              <a:spcAft>
                <a:spcPts val="400"/>
              </a:spcAft>
              <a:defRPr sz="1200">
                <a:solidFill>
                  <a:srgbClr val="B0BEC5"/>
                </a:solidFill>
                <a:latin typeface="Arial"/>
              </a:defRPr>
            </a:pPr>
            <a:r>
              <a:t>Ghi lịch sử bật/tắt thiết bị để giám sát điện năng và vận hành.</a:t>
            </a:r>
          </a:p>
          <a:p>
            <a:pPr>
              <a:spcAft>
                <a:spcPts val="400"/>
              </a:spcAft>
              <a:defRPr sz="1200">
                <a:solidFill>
                  <a:srgbClr val="B0BEC5"/>
                </a:solidFill>
                <a:latin typeface="Arial"/>
              </a:defRPr>
            </a:pPr>
            <a:r>
              <a:t>**Fields (Số/Logic):**</a:t>
            </a:r>
          </a:p>
          <a:p>
            <a:pPr>
              <a:spcAft>
                <a:spcPts val="400"/>
              </a:spcAft>
              <a:defRPr sz="1200">
                <a:solidFill>
                  <a:srgbClr val="B0BEC5"/>
                </a:solidFill>
                <a:latin typeface="Arial"/>
              </a:defRPr>
            </a:pPr>
            <a:r>
              <a:t>  - fan_1..4_pwm (tốc độ quạt)</a:t>
            </a:r>
          </a:p>
          <a:p>
            <a:pPr>
              <a:spcAft>
                <a:spcPts val="400"/>
              </a:spcAft>
              <a:defRPr sz="1200">
                <a:solidFill>
                  <a:srgbClr val="B0BEC5"/>
                </a:solidFill>
                <a:latin typeface="Arial"/>
              </a:defRPr>
            </a:pPr>
            <a:r>
              <a:t>  - pump_dd_1..2_pwm (bơm dinh dưỡng)</a:t>
            </a:r>
          </a:p>
          <a:p>
            <a:pPr>
              <a:spcAft>
                <a:spcPts val="400"/>
              </a:spcAft>
              <a:defRPr sz="1200">
                <a:solidFill>
                  <a:srgbClr val="B0BEC5"/>
                </a:solidFill>
                <a:latin typeface="Arial"/>
              </a:defRPr>
            </a:pPr>
            <a:r>
              <a:t>  - pump_220v (trạng thái bơm chính)</a:t>
            </a:r>
          </a:p>
          <a:p>
            <a:pPr>
              <a:spcAft>
                <a:spcPts val="400"/>
              </a:spcAft>
              <a:defRPr sz="1200">
                <a:solidFill>
                  <a:srgbClr val="B0BEC5"/>
                </a:solidFill>
                <a:latin typeface="Arial"/>
              </a:defRPr>
            </a:pPr>
            <a:r>
              <a:t>  - grow_light_1..4 (trạng thái LED)</a:t>
            </a:r>
          </a:p>
          <a:p>
            <a:pPr>
              <a:spcAft>
                <a:spcPts val="400"/>
              </a:spcAft>
              <a:defRPr sz="1200">
                <a:solidFill>
                  <a:srgbClr val="B0BEC5"/>
                </a:solidFill>
                <a:latin typeface="Arial"/>
              </a:defRPr>
            </a:pPr>
            <a:r>
              <a:t>**Tags:**</a:t>
            </a:r>
          </a:p>
          <a:p>
            <a:pPr>
              <a:spcAft>
                <a:spcPts val="400"/>
              </a:spcAft>
              <a:defRPr sz="1200">
                <a:solidFill>
                  <a:srgbClr val="B0BEC5"/>
                </a:solidFill>
                <a:latin typeface="Arial"/>
              </a:defRPr>
            </a:pPr>
            <a:r>
              <a:t>  - device_id="esp32_01"</a:t>
            </a:r>
          </a:p>
        </p:txBody>
      </p:sp>
      <p:sp>
        <p:nvSpPr>
          <p:cNvPr id="11" name="Rounded Rectangle 10"/>
          <p:cNvSpPr/>
          <p:nvPr/>
        </p:nvSpPr>
        <p:spPr>
          <a:xfrm>
            <a:off x="8046720" y="2743200"/>
            <a:ext cx="3383280" cy="3474720"/>
          </a:xfrm>
          <a:prstGeom prst="roundRect">
            <a:avLst/>
          </a:prstGeom>
          <a:solidFill>
            <a:srgbClr val="1D2632"/>
          </a:solidFill>
          <a:ln w="19050">
            <a:solidFill>
              <a:srgbClr val="F1C40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0" y="2880360"/>
            <a:ext cx="3017520" cy="3200400"/>
          </a:xfrm>
          <a:prstGeom prst="rect">
            <a:avLst/>
          </a:prstGeom>
          <a:noFill/>
        </p:spPr>
        <p:txBody>
          <a:bodyPr wrap="square">
            <a:spAutoFit/>
          </a:bodyPr>
          <a:lstStyle/>
          <a:p>
            <a:pPr>
              <a:spcAft>
                <a:spcPts val="800"/>
              </a:spcAft>
              <a:defRPr sz="1600" b="1">
                <a:solidFill>
                  <a:srgbClr val="F1C40F"/>
                </a:solidFill>
                <a:latin typeface="Arial"/>
              </a:defRPr>
            </a:pPr>
            <a:r>
              <a:t>Measurement: ai_predictions</a:t>
            </a:r>
          </a:p>
          <a:p>
            <a:pPr>
              <a:spcAft>
                <a:spcPts val="400"/>
              </a:spcAft>
              <a:defRPr sz="1200">
                <a:solidFill>
                  <a:srgbClr val="B0BEC5"/>
                </a:solidFill>
                <a:latin typeface="Arial"/>
              </a:defRPr>
            </a:pPr>
            <a:r>
              <a:t>Lưu vết lịch sử phân tích và suy diễn từ các thuật toán AI.</a:t>
            </a:r>
          </a:p>
          <a:p>
            <a:pPr>
              <a:spcAft>
                <a:spcPts val="400"/>
              </a:spcAft>
              <a:defRPr sz="1200">
                <a:solidFill>
                  <a:srgbClr val="B0BEC5"/>
                </a:solidFill>
                <a:latin typeface="Arial"/>
              </a:defRPr>
            </a:pPr>
            <a:r>
              <a:t>**Fields (Chuỗi/Số):**</a:t>
            </a:r>
          </a:p>
          <a:p>
            <a:pPr>
              <a:spcAft>
                <a:spcPts val="400"/>
              </a:spcAft>
              <a:defRPr sz="1200">
                <a:solidFill>
                  <a:srgbClr val="B0BEC5"/>
                </a:solidFill>
                <a:latin typeface="Arial"/>
              </a:defRPr>
            </a:pPr>
            <a:r>
              <a:t>  - disease_label (tên loại bệnh)</a:t>
            </a:r>
          </a:p>
          <a:p>
            <a:pPr>
              <a:spcAft>
                <a:spcPts val="400"/>
              </a:spcAft>
              <a:defRPr sz="1200">
                <a:solidFill>
                  <a:srgbClr val="B0BEC5"/>
                </a:solidFill>
                <a:latin typeface="Arial"/>
              </a:defRPr>
            </a:pPr>
            <a:r>
              <a:t>  - confidence (độ tin cậy %)</a:t>
            </a:r>
          </a:p>
          <a:p>
            <a:pPr>
              <a:spcAft>
                <a:spcPts val="400"/>
              </a:spcAft>
              <a:defRPr sz="1200">
                <a:solidFill>
                  <a:srgbClr val="B0BEC5"/>
                </a:solidFill>
                <a:latin typeface="Arial"/>
              </a:defRPr>
            </a:pPr>
            <a:r>
              <a:t>  - growth_percent (% lớn của rau)</a:t>
            </a:r>
          </a:p>
          <a:p>
            <a:pPr>
              <a:spcAft>
                <a:spcPts val="400"/>
              </a:spcAft>
              <a:defRPr sz="1200">
                <a:solidFill>
                  <a:srgbClr val="B0BEC5"/>
                </a:solidFill>
                <a:latin typeface="Arial"/>
              </a:defRPr>
            </a:pPr>
            <a:r>
              <a:t>  - days_remaining (ngày thu hoạch dự kiến)</a:t>
            </a:r>
          </a:p>
          <a:p>
            <a:pPr>
              <a:spcAft>
                <a:spcPts val="400"/>
              </a:spcAft>
              <a:defRPr sz="1200">
                <a:solidFill>
                  <a:srgbClr val="B0BEC5"/>
                </a:solidFill>
                <a:latin typeface="Arial"/>
              </a:defRPr>
            </a:pPr>
            <a:r>
              <a:t>**Tags:**</a:t>
            </a:r>
          </a:p>
          <a:p>
            <a:pPr>
              <a:spcAft>
                <a:spcPts val="400"/>
              </a:spcAft>
              <a:defRPr sz="1200">
                <a:solidFill>
                  <a:srgbClr val="B0BEC5"/>
                </a:solidFill>
                <a:latin typeface="Arial"/>
              </a:defRPr>
            </a:pPr>
            <a:r>
              <a:t>  - model_version="v1.0"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51B24"/>
        </a:solidFill>
        <a:effectLst/>
      </p:bgPr>
    </p:bg>
    <p:spTree>
      <p:nvGrpSpPr>
        <p:cNvPr id="1" name=""/>
        <p:cNvGrpSpPr/>
        <p:nvPr/>
      </p:nvGrpSpPr>
      <p:grpSpPr/>
      <p:sp>
        <p:nvSpPr>
          <p:cNvPr id="2" name="Rectangle 1"/>
          <p:cNvSpPr/>
          <p:nvPr/>
        </p:nvSpPr>
        <p:spPr>
          <a:xfrm>
            <a:off x="731520" y="365760"/>
            <a:ext cx="137160" cy="73152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320040"/>
            <a:ext cx="9144000" cy="228600"/>
          </a:xfrm>
          <a:prstGeom prst="rect">
            <a:avLst/>
          </a:prstGeom>
          <a:noFill/>
        </p:spPr>
        <p:txBody>
          <a:bodyPr wrap="square" lIns="0" rIns="0" tIns="0" bIns="0">
            <a:spAutoFit/>
          </a:bodyPr>
          <a:lstStyle/>
          <a:p>
            <a:pPr>
              <a:defRPr sz="1000" b="1">
                <a:solidFill>
                  <a:srgbClr val="2ECC71"/>
                </a:solidFill>
                <a:latin typeface="Arial"/>
              </a:defRPr>
            </a:pPr>
            <a:r>
              <a:t>PHẦN 2: CƠ SỞ DỮ LIỆU</a:t>
            </a:r>
          </a:p>
        </p:txBody>
      </p:sp>
      <p:sp>
        <p:nvSpPr>
          <p:cNvPr id="4" name="TextBox 3"/>
          <p:cNvSpPr txBox="1"/>
          <p:nvPr/>
        </p:nvSpPr>
        <p:spPr>
          <a:xfrm>
            <a:off x="1005840" y="502920"/>
            <a:ext cx="10058400" cy="548640"/>
          </a:xfrm>
          <a:prstGeom prst="rect">
            <a:avLst/>
          </a:prstGeom>
          <a:noFill/>
        </p:spPr>
        <p:txBody>
          <a:bodyPr wrap="square" lIns="0" rIns="0" tIns="0" bIns="0">
            <a:spAutoFit/>
          </a:bodyPr>
          <a:lstStyle/>
          <a:p>
            <a:pPr>
              <a:defRPr sz="2400" b="1">
                <a:solidFill>
                  <a:srgbClr val="FFFFFF"/>
                </a:solidFill>
                <a:latin typeface="Arial"/>
              </a:defRPr>
            </a:pPr>
            <a:r>
              <a:t>Vận Hành &amp; Tối Ưu Hóa Dữ Liệu InfluxDB</a:t>
            </a:r>
          </a:p>
        </p:txBody>
      </p:sp>
      <p:sp>
        <p:nvSpPr>
          <p:cNvPr id="5" name="Rectangle 4"/>
          <p:cNvSpPr/>
          <p:nvPr/>
        </p:nvSpPr>
        <p:spPr>
          <a:xfrm>
            <a:off x="731520" y="1188720"/>
            <a:ext cx="10698480" cy="18288"/>
          </a:xfrm>
          <a:prstGeom prst="rect">
            <a:avLst/>
          </a:prstGeom>
          <a:solidFill>
            <a:srgbClr val="1D26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645920"/>
            <a:ext cx="10698480" cy="4572000"/>
          </a:xfrm>
          <a:prstGeom prst="rect">
            <a:avLst/>
          </a:prstGeom>
          <a:noFill/>
        </p:spPr>
        <p:txBody>
          <a:bodyPr wrap="square">
            <a:spAutoFit/>
          </a:bodyPr>
          <a:lstStyle/>
          <a:p>
            <a:pPr>
              <a:spcAft>
                <a:spcPts val="600"/>
              </a:spcAft>
              <a:defRPr sz="1300">
                <a:solidFill>
                  <a:srgbClr val="FFFFFF"/>
                </a:solidFill>
                <a:latin typeface="Arial"/>
              </a:defRPr>
            </a:pPr>
            <a:r>
              <a:t>**1. Cơ chế ghi dữ liệu bất đồng bộ (Async Data Ingestion):**</a:t>
            </a:r>
          </a:p>
          <a:p>
            <a:pPr lvl="2">
              <a:spcAft>
                <a:spcPts val="600"/>
              </a:spcAft>
              <a:defRPr sz="1300">
                <a:solidFill>
                  <a:srgbClr val="B0BEC5"/>
                </a:solidFill>
                <a:latin typeface="Arial"/>
              </a:defRPr>
            </a:pPr>
            <a:r>
              <a:t>Trạm ESP32-S3 gửi gói tin JSON lên MQTT Broker mỗi 30 giây.</a:t>
            </a:r>
          </a:p>
          <a:p>
            <a:pPr lvl="2">
              <a:spcAft>
                <a:spcPts val="600"/>
              </a:spcAft>
              <a:defRPr sz="1300">
                <a:solidFill>
                  <a:srgbClr val="B0BEC5"/>
                </a:solidFill>
                <a:latin typeface="Arial"/>
              </a:defRPr>
            </a:pPr>
            <a:r>
              <a:t>FastAPI Backend đón nhận bản tin, đóng gói thành đối tượng Point và sử dụng thư viện `influxdb-client-python` ghi bất đồng bộ (async write) vào InfluxDB.</a:t>
            </a:r>
          </a:p>
          <a:p>
            <a:pPr lvl="2">
              <a:spcAft>
                <a:spcPts val="600"/>
              </a:spcAft>
              <a:defRPr sz="1300">
                <a:solidFill>
                  <a:srgbClr val="B0BEC5"/>
                </a:solidFill>
                <a:latin typeface="Arial"/>
              </a:defRPr>
            </a:pPr>
            <a:r>
              <a:t>Việc ghi bất đồng bộ giúp API chính không bị nghẽn (non-blocking) khi có nhiều kết nối đồng thời.</a:t>
            </a:r>
          </a:p>
          <a:p>
            <a:pPr>
              <a:spcAft>
                <a:spcPts val="600"/>
              </a:spcAft>
              <a:defRPr sz="1300">
                <a:solidFill>
                  <a:srgbClr val="B0BEC5"/>
                </a:solidFill>
                <a:latin typeface="Arial"/>
              </a:defRPr>
            </a:pPr>
          </a:p>
          <a:p>
            <a:pPr>
              <a:spcAft>
                <a:spcPts val="600"/>
              </a:spcAft>
              <a:defRPr sz="1300">
                <a:solidFill>
                  <a:srgbClr val="FFFFFF"/>
                </a:solidFill>
                <a:latin typeface="Arial"/>
              </a:defRPr>
            </a:pPr>
            <a:r>
              <a:t>**2. Tính ổn định và khả năng phục hồi (High Availability &amp; Reliability):**</a:t>
            </a:r>
          </a:p>
          <a:p>
            <a:pPr lvl="2">
              <a:spcAft>
                <a:spcPts val="600"/>
              </a:spcAft>
              <a:defRPr sz="1300">
                <a:solidFill>
                  <a:srgbClr val="B0BEC5"/>
                </a:solidFill>
                <a:latin typeface="Arial"/>
              </a:defRPr>
            </a:pPr>
            <a:r>
              <a:t>Trên Raspberry Pi 4, InfluxDB được cấu hình hoạt động như một **Systemd Service** khởi động cùng hệ điều hành.</a:t>
            </a:r>
          </a:p>
          <a:p>
            <a:pPr lvl="2">
              <a:spcAft>
                <a:spcPts val="600"/>
              </a:spcAft>
              <a:defRPr sz="1300">
                <a:solidFill>
                  <a:srgbClr val="B0BEC5"/>
                </a:solidFill>
                <a:latin typeface="Arial"/>
              </a:defRPr>
            </a:pPr>
            <a:r>
              <a:t>Thiết lập chính sách ghi đệm trên RAM và tự động khôi phục dữ liệu khi mất nguồn đột ngột, đảm bảo tính toàn vẹn dữ liệu lịch sử.</a:t>
            </a:r>
          </a:p>
          <a:p>
            <a:pPr>
              <a:spcAft>
                <a:spcPts val="600"/>
              </a:spcAft>
              <a:defRPr sz="1300">
                <a:solidFill>
                  <a:srgbClr val="B0BEC5"/>
                </a:solidFill>
                <a:latin typeface="Arial"/>
              </a:defRPr>
            </a:pPr>
          </a:p>
          <a:p>
            <a:pPr>
              <a:spcAft>
                <a:spcPts val="600"/>
              </a:spcAft>
              <a:defRPr sz="1300">
                <a:solidFill>
                  <a:srgbClr val="FFFFFF"/>
                </a:solidFill>
                <a:latin typeface="Arial"/>
              </a:defRPr>
            </a:pPr>
            <a:r>
              <a:t>**3. Tối ưu hóa lưu trữ (Retention Policies):**</a:t>
            </a:r>
          </a:p>
          <a:p>
            <a:pPr lvl="2">
              <a:spcAft>
                <a:spcPts val="600"/>
              </a:spcAft>
              <a:defRPr sz="1300">
                <a:solidFill>
                  <a:srgbClr val="B0BEC5"/>
                </a:solidFill>
                <a:latin typeface="Arial"/>
              </a:defRPr>
            </a:pPr>
            <a:r>
              <a:t>Do Raspberry Pi 4 sử dụng thẻ nhớ dung lượng giới hạn, InfluxDB được cấu hình **Retention Policy** tự động xóa dữ liệu thô cũ sau 30 ngày.</a:t>
            </a:r>
          </a:p>
          <a:p>
            <a:pPr lvl="2">
              <a:spcAft>
                <a:spcPts val="600"/>
              </a:spcAft>
              <a:defRPr sz="1300">
                <a:solidFill>
                  <a:srgbClr val="B0BEC5"/>
                </a:solidFill>
                <a:latin typeface="Arial"/>
              </a:defRPr>
            </a:pPr>
            <a:r>
              <a:t>Trước khi xóa, dữ liệu được gom cụm (Downsampling) tính trung bình theo giờ để lưu trữ dài hạn hơn, tránh làm đầy bộ nhớ thẻ nhớ.</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51B24"/>
        </a:solidFill>
        <a:effectLst/>
      </p:bgPr>
    </p:bg>
    <p:spTree>
      <p:nvGrpSpPr>
        <p:cNvPr id="1" name=""/>
        <p:cNvGrpSpPr/>
        <p:nvPr/>
      </p:nvGrpSpPr>
      <p:grpSpPr/>
      <p:sp>
        <p:nvSpPr>
          <p:cNvPr id="2" name="Rectangle 1"/>
          <p:cNvSpPr/>
          <p:nvPr/>
        </p:nvSpPr>
        <p:spPr>
          <a:xfrm>
            <a:off x="731520" y="365760"/>
            <a:ext cx="137160" cy="73152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320040"/>
            <a:ext cx="9144000" cy="228600"/>
          </a:xfrm>
          <a:prstGeom prst="rect">
            <a:avLst/>
          </a:prstGeom>
          <a:noFill/>
        </p:spPr>
        <p:txBody>
          <a:bodyPr wrap="square" lIns="0" rIns="0" tIns="0" bIns="0">
            <a:spAutoFit/>
          </a:bodyPr>
          <a:lstStyle/>
          <a:p>
            <a:pPr>
              <a:defRPr sz="1000" b="1">
                <a:solidFill>
                  <a:srgbClr val="2ECC71"/>
                </a:solidFill>
                <a:latin typeface="Arial"/>
              </a:defRPr>
            </a:pPr>
            <a:r>
              <a:t>PHẦN 2: WEB UI DASHBOARD</a:t>
            </a:r>
          </a:p>
        </p:txBody>
      </p:sp>
      <p:sp>
        <p:nvSpPr>
          <p:cNvPr id="4" name="TextBox 3"/>
          <p:cNvSpPr txBox="1"/>
          <p:nvPr/>
        </p:nvSpPr>
        <p:spPr>
          <a:xfrm>
            <a:off x="1005840" y="502920"/>
            <a:ext cx="10058400" cy="548640"/>
          </a:xfrm>
          <a:prstGeom prst="rect">
            <a:avLst/>
          </a:prstGeom>
          <a:noFill/>
        </p:spPr>
        <p:txBody>
          <a:bodyPr wrap="square" lIns="0" rIns="0" tIns="0" bIns="0">
            <a:spAutoFit/>
          </a:bodyPr>
          <a:lstStyle/>
          <a:p>
            <a:pPr>
              <a:defRPr sz="2400" b="1">
                <a:solidFill>
                  <a:srgbClr val="FFFFFF"/>
                </a:solidFill>
                <a:latin typeface="Arial"/>
              </a:defRPr>
            </a:pPr>
            <a:r>
              <a:t>Giao Diện Web UI Dashboard &amp; Điều Khiển Thiết Bị</a:t>
            </a:r>
          </a:p>
        </p:txBody>
      </p:sp>
      <p:sp>
        <p:nvSpPr>
          <p:cNvPr id="5" name="Rectangle 4"/>
          <p:cNvSpPr/>
          <p:nvPr/>
        </p:nvSpPr>
        <p:spPr>
          <a:xfrm>
            <a:off x="731520" y="1188720"/>
            <a:ext cx="10698480" cy="18288"/>
          </a:xfrm>
          <a:prstGeom prst="rect">
            <a:avLst/>
          </a:prstGeom>
          <a:solidFill>
            <a:srgbClr val="1D26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645920"/>
            <a:ext cx="5120640" cy="4572000"/>
          </a:xfrm>
          <a:prstGeom prst="rect">
            <a:avLst/>
          </a:prstGeom>
          <a:noFill/>
        </p:spPr>
        <p:txBody>
          <a:bodyPr wrap="square">
            <a:spAutoFit/>
          </a:bodyPr>
          <a:lstStyle/>
          <a:p>
            <a:pPr>
              <a:spcAft>
                <a:spcPts val="600"/>
              </a:spcAft>
              <a:defRPr sz="1300">
                <a:solidFill>
                  <a:srgbClr val="FFFFFF"/>
                </a:solidFill>
                <a:latin typeface="Arial"/>
              </a:defRPr>
            </a:pPr>
            <a:r>
              <a:t>**Bảng điều khiển trung tâm (Dashboard):**</a:t>
            </a:r>
          </a:p>
          <a:p>
            <a:pPr lvl="2">
              <a:spcAft>
                <a:spcPts val="600"/>
              </a:spcAft>
              <a:defRPr sz="1300">
                <a:solidFill>
                  <a:srgbClr val="B0BEC5"/>
                </a:solidFill>
                <a:latin typeface="Arial"/>
              </a:defRPr>
            </a:pPr>
            <a:r>
              <a:t>Hiển thị trực quan các chỉ số cảm biến theo thời gian thực (nhiệt độ, độ ẩm, pH, TDS).</a:t>
            </a:r>
          </a:p>
          <a:p>
            <a:pPr lvl="2">
              <a:spcAft>
                <a:spcPts val="600"/>
              </a:spcAft>
              <a:defRPr sz="1300">
                <a:solidFill>
                  <a:srgbClr val="B0BEC5"/>
                </a:solidFill>
                <a:latin typeface="Arial"/>
              </a:defRPr>
            </a:pPr>
            <a:r>
              <a:t>Trạng thái thiết bị hiển thị trực quan thông qua các màu sắc và hiệu ứng chỉ báo động.</a:t>
            </a:r>
          </a:p>
          <a:p>
            <a:pPr>
              <a:spcAft>
                <a:spcPts val="600"/>
              </a:spcAft>
              <a:defRPr sz="1300">
                <a:solidFill>
                  <a:srgbClr val="B0BEC5"/>
                </a:solidFill>
                <a:latin typeface="Arial"/>
              </a:defRPr>
            </a:pPr>
          </a:p>
          <a:p>
            <a:pPr>
              <a:spcAft>
                <a:spcPts val="600"/>
              </a:spcAft>
              <a:defRPr sz="1300">
                <a:solidFill>
                  <a:srgbClr val="FFFFFF"/>
                </a:solidFill>
                <a:latin typeface="Arial"/>
              </a:defRPr>
            </a:pPr>
            <a:r>
              <a:t>**Cơ chế điều khiển thiết bị ngoại vi:**</a:t>
            </a:r>
          </a:p>
          <a:p>
            <a:pPr lvl="2">
              <a:spcAft>
                <a:spcPts val="600"/>
              </a:spcAft>
              <a:defRPr sz="1300">
                <a:solidFill>
                  <a:srgbClr val="B0BEC5"/>
                </a:solidFill>
                <a:latin typeface="Arial"/>
              </a:defRPr>
            </a:pPr>
            <a:r>
              <a:t>**Thanh trượt (Slider):** Điều khiển xung PWM từ 0 đến 255 để tăng giảm tốc độ quạt thông gió và lưu lượng bơm châm dinh dưỡng.</a:t>
            </a:r>
          </a:p>
          <a:p>
            <a:pPr lvl="2">
              <a:spcAft>
                <a:spcPts val="600"/>
              </a:spcAft>
              <a:defRPr sz="1300">
                <a:solidFill>
                  <a:srgbClr val="B0BEC5"/>
                </a:solidFill>
                <a:latin typeface="Arial"/>
              </a:defRPr>
            </a:pPr>
            <a:r>
              <a:t>**Nút gạt (Toggle Switch):** Điều khiển rơ-le bật/tắt bơm tuần hoàn chính, sục khí, và đèn LED Grow.</a:t>
            </a:r>
          </a:p>
          <a:p>
            <a:pPr lvl="2">
              <a:spcAft>
                <a:spcPts val="600"/>
              </a:spcAft>
              <a:defRPr sz="1300">
                <a:solidFill>
                  <a:srgbClr val="B0BEC5"/>
                </a:solidFill>
                <a:latin typeface="Arial"/>
              </a:defRPr>
            </a:pPr>
            <a:r>
              <a:t>Mỗi thao tác của người dùng sẽ kích hoạt ngay một request POST tới endpoint điều khiển tương ứng trên FastAPI.</a:t>
            </a:r>
          </a:p>
        </p:txBody>
      </p:sp>
      <p:sp>
        <p:nvSpPr>
          <p:cNvPr id="7" name="TextBox 6"/>
          <p:cNvSpPr txBox="1"/>
          <p:nvPr/>
        </p:nvSpPr>
        <p:spPr>
          <a:xfrm>
            <a:off x="6217920" y="1645920"/>
            <a:ext cx="5212080" cy="4572000"/>
          </a:xfrm>
          <a:prstGeom prst="rect">
            <a:avLst/>
          </a:prstGeom>
          <a:noFill/>
        </p:spPr>
        <p:txBody>
          <a:bodyPr wrap="square">
            <a:spAutoFit/>
          </a:bodyPr>
          <a:lstStyle/>
          <a:p>
            <a:pPr>
              <a:spcAft>
                <a:spcPts val="600"/>
              </a:spcAft>
              <a:defRPr sz="1300">
                <a:solidFill>
                  <a:srgbClr val="FFFFFF"/>
                </a:solidFill>
                <a:latin typeface="Arial"/>
              </a:defRPr>
            </a:pPr>
            <a:r>
              <a:t>**Tích hợp biểu đồ phân tích lịch sử (Chart.js):**</a:t>
            </a:r>
          </a:p>
          <a:p>
            <a:pPr lvl="2">
              <a:spcAft>
                <a:spcPts val="600"/>
              </a:spcAft>
              <a:defRPr sz="1300">
                <a:solidFill>
                  <a:srgbClr val="B0BEC5"/>
                </a:solidFill>
                <a:latin typeface="Arial"/>
              </a:defRPr>
            </a:pPr>
            <a:r>
              <a:t>Nhúng thư viện biểu đồ JavaScript gọn nhẹ `Chart.js`.</a:t>
            </a:r>
          </a:p>
          <a:p>
            <a:pPr lvl="2">
              <a:spcAft>
                <a:spcPts val="600"/>
              </a:spcAft>
              <a:defRPr sz="1300">
                <a:solidFill>
                  <a:srgbClr val="B0BEC5"/>
                </a:solidFill>
                <a:latin typeface="Arial"/>
              </a:defRPr>
            </a:pPr>
            <a:r>
              <a:t>Cho phép người dùng theo dõi biểu đồ đường diễn biến thông số pH, TDS, và nhiệt độ bể chứa trong 24 giờ qua hoặc theo tuần.</a:t>
            </a:r>
          </a:p>
          <a:p>
            <a:pPr lvl="2">
              <a:spcAft>
                <a:spcPts val="600"/>
              </a:spcAft>
              <a:defRPr sz="1300">
                <a:solidFill>
                  <a:srgbClr val="B0BEC5"/>
                </a:solidFill>
                <a:latin typeface="Arial"/>
              </a:defRPr>
            </a:pPr>
            <a:r>
              <a:t>Giúp phát hiện sớm sự biến động bất thường của dinh dưỡng để can thiệp kịp thời.</a:t>
            </a:r>
          </a:p>
          <a:p>
            <a:pPr>
              <a:spcAft>
                <a:spcPts val="600"/>
              </a:spcAft>
              <a:defRPr sz="1300">
                <a:solidFill>
                  <a:srgbClr val="B0BEC5"/>
                </a:solidFill>
                <a:latin typeface="Arial"/>
              </a:defRPr>
            </a:pPr>
          </a:p>
          <a:p>
            <a:pPr>
              <a:spcAft>
                <a:spcPts val="600"/>
              </a:spcAft>
              <a:defRPr sz="1300">
                <a:solidFill>
                  <a:srgbClr val="FFFFFF"/>
                </a:solidFill>
                <a:latin typeface="Arial"/>
              </a:defRPr>
            </a:pPr>
            <a:r>
              <a:t>**Đồng bộ giao diện thời gian thực:**</a:t>
            </a:r>
          </a:p>
          <a:p>
            <a:pPr lvl="2">
              <a:spcAft>
                <a:spcPts val="600"/>
              </a:spcAft>
              <a:defRPr sz="1300">
                <a:solidFill>
                  <a:srgbClr val="B0BEC5"/>
                </a:solidFill>
                <a:latin typeface="Arial"/>
              </a:defRPr>
            </a:pPr>
            <a:r>
              <a:t>Web UI duy trì kết nối WebSocket liên tục tới FastAPI.</a:t>
            </a:r>
          </a:p>
          <a:p>
            <a:pPr lvl="2">
              <a:spcAft>
                <a:spcPts val="600"/>
              </a:spcAft>
              <a:defRPr sz="1300">
                <a:solidFill>
                  <a:srgbClr val="B0BEC5"/>
                </a:solidFill>
                <a:latin typeface="Arial"/>
              </a:defRPr>
            </a:pPr>
            <a:r>
              <a:t>Dữ liệu cảm biến mới tự động cập nhật lên giao diện mà không cần người dùng tải lại trang (F5), mang lại trải nghiệm mượt mà.</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51B24"/>
        </a:solidFill>
        <a:effectLst/>
      </p:bgPr>
    </p:bg>
    <p:spTree>
      <p:nvGrpSpPr>
        <p:cNvPr id="1" name=""/>
        <p:cNvGrpSpPr/>
        <p:nvPr/>
      </p:nvGrpSpPr>
      <p:grpSpPr/>
      <p:sp>
        <p:nvSpPr>
          <p:cNvPr id="2" name="Rectangle 1"/>
          <p:cNvSpPr/>
          <p:nvPr/>
        </p:nvSpPr>
        <p:spPr>
          <a:xfrm>
            <a:off x="731520" y="365760"/>
            <a:ext cx="137160" cy="73152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320040"/>
            <a:ext cx="9144000" cy="228600"/>
          </a:xfrm>
          <a:prstGeom prst="rect">
            <a:avLst/>
          </a:prstGeom>
          <a:noFill/>
        </p:spPr>
        <p:txBody>
          <a:bodyPr wrap="square" lIns="0" rIns="0" tIns="0" bIns="0">
            <a:spAutoFit/>
          </a:bodyPr>
          <a:lstStyle/>
          <a:p>
            <a:pPr>
              <a:defRPr sz="1000" b="1">
                <a:solidFill>
                  <a:srgbClr val="2ECC71"/>
                </a:solidFill>
                <a:latin typeface="Arial"/>
              </a:defRPr>
            </a:pPr>
            <a:r>
              <a:t>PHẦN 2: WEB UI DASHBOARD</a:t>
            </a:r>
          </a:p>
        </p:txBody>
      </p:sp>
      <p:sp>
        <p:nvSpPr>
          <p:cNvPr id="4" name="TextBox 3"/>
          <p:cNvSpPr txBox="1"/>
          <p:nvPr/>
        </p:nvSpPr>
        <p:spPr>
          <a:xfrm>
            <a:off x="1005840" y="502920"/>
            <a:ext cx="10058400" cy="548640"/>
          </a:xfrm>
          <a:prstGeom prst="rect">
            <a:avLst/>
          </a:prstGeom>
          <a:noFill/>
        </p:spPr>
        <p:txBody>
          <a:bodyPr wrap="square" lIns="0" rIns="0" tIns="0" bIns="0">
            <a:spAutoFit/>
          </a:bodyPr>
          <a:lstStyle/>
          <a:p>
            <a:pPr>
              <a:defRPr sz="2400" b="1">
                <a:solidFill>
                  <a:srgbClr val="FFFFFF"/>
                </a:solidFill>
                <a:latin typeface="Arial"/>
              </a:defRPr>
            </a:pPr>
            <a:r>
              <a:t>Mô Phỏng 2D &amp; Chẩn Đoán Bệnh Lá Qua Camera</a:t>
            </a:r>
          </a:p>
        </p:txBody>
      </p:sp>
      <p:sp>
        <p:nvSpPr>
          <p:cNvPr id="5" name="Rectangle 4"/>
          <p:cNvSpPr/>
          <p:nvPr/>
        </p:nvSpPr>
        <p:spPr>
          <a:xfrm>
            <a:off x="731520" y="1188720"/>
            <a:ext cx="10698480" cy="18288"/>
          </a:xfrm>
          <a:prstGeom prst="rect">
            <a:avLst/>
          </a:prstGeom>
          <a:solidFill>
            <a:srgbClr val="1D26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645920"/>
            <a:ext cx="5120640" cy="4572000"/>
          </a:xfrm>
          <a:prstGeom prst="rect">
            <a:avLst/>
          </a:prstGeom>
          <a:noFill/>
        </p:spPr>
        <p:txBody>
          <a:bodyPr wrap="square">
            <a:spAutoFit/>
          </a:bodyPr>
          <a:lstStyle/>
          <a:p>
            <a:pPr>
              <a:spcAft>
                <a:spcPts val="600"/>
              </a:spcAft>
              <a:defRPr sz="1300">
                <a:solidFill>
                  <a:srgbClr val="FFFFFF"/>
                </a:solidFill>
                <a:latin typeface="Arial"/>
              </a:defRPr>
            </a:pPr>
            <a:r>
              <a:t>**Mô phỏng Digital Twin dạng 2D trực quan:**</a:t>
            </a:r>
          </a:p>
          <a:p>
            <a:pPr lvl="2">
              <a:spcAft>
                <a:spcPts val="600"/>
              </a:spcAft>
              <a:defRPr sz="1300">
                <a:solidFill>
                  <a:srgbClr val="B0BEC5"/>
                </a:solidFill>
                <a:latin typeface="Arial"/>
              </a:defRPr>
            </a:pPr>
            <a:r>
              <a:t>Sử dụng đồ họa Canvas/SVG động để phác họa sơ đồ giàn NFT.</a:t>
            </a:r>
          </a:p>
          <a:p>
            <a:pPr lvl="2">
              <a:spcAft>
                <a:spcPts val="600"/>
              </a:spcAft>
              <a:defRPr sz="1300">
                <a:solidFill>
                  <a:srgbClr val="B0BEC5"/>
                </a:solidFill>
                <a:latin typeface="Arial"/>
              </a:defRPr>
            </a:pPr>
            <a:r>
              <a:t>**Cơ chế hoạt động động (Dynamic UI animation):**</a:t>
            </a:r>
          </a:p>
          <a:p>
            <a:pPr>
              <a:spcAft>
                <a:spcPts val="600"/>
              </a:spcAft>
              <a:defRPr sz="1300">
                <a:solidFill>
                  <a:srgbClr val="B0BEC5"/>
                </a:solidFill>
                <a:latin typeface="Arial"/>
              </a:defRPr>
            </a:pPr>
            <a:r>
              <a:t>    - Khi quạt thông gió được bật ở thực tế (hoặc mô phỏng), hình ảnh cánh quạt tương ứng trên Web UI sẽ xoay với tốc độ tỷ lệ thuận.</a:t>
            </a:r>
          </a:p>
          <a:p>
            <a:pPr>
              <a:spcAft>
                <a:spcPts val="600"/>
              </a:spcAft>
              <a:defRPr sz="1300">
                <a:solidFill>
                  <a:srgbClr val="B0BEC5"/>
                </a:solidFill>
                <a:latin typeface="Arial"/>
              </a:defRPr>
            </a:pPr>
            <a:r>
              <a:t>    - Khi máy bơm chính hoạt động, đường dẫn ống nước ảo trên màn hình sẽ tạo hiệu ứng dòng hạt chảy chuyển động.</a:t>
            </a:r>
          </a:p>
          <a:p>
            <a:pPr>
              <a:spcAft>
                <a:spcPts val="600"/>
              </a:spcAft>
              <a:defRPr sz="1300">
                <a:solidFill>
                  <a:srgbClr val="B0BEC5"/>
                </a:solidFill>
                <a:latin typeface="Arial"/>
              </a:defRPr>
            </a:pPr>
            <a:r>
              <a:t>    - Đèn LED Grow chuyển từ xám tối sang màu sáng hồng khi ở trạng thái hoạt động.</a:t>
            </a:r>
          </a:p>
          <a:p>
            <a:pPr lvl="2">
              <a:spcAft>
                <a:spcPts val="600"/>
              </a:spcAft>
              <a:defRPr sz="1300">
                <a:solidFill>
                  <a:srgbClr val="B0BEC5"/>
                </a:solidFill>
                <a:latin typeface="Arial"/>
              </a:defRPr>
            </a:pPr>
            <a:r>
              <a:t>Giúp người vận hành nhanh chóng nhận biết trạng thái vật lý của hệ thống chỉ với một cái nhìn lướt qua.</a:t>
            </a:r>
          </a:p>
        </p:txBody>
      </p:sp>
      <p:sp>
        <p:nvSpPr>
          <p:cNvPr id="7" name="TextBox 6"/>
          <p:cNvSpPr txBox="1"/>
          <p:nvPr/>
        </p:nvSpPr>
        <p:spPr>
          <a:xfrm>
            <a:off x="6217920" y="1645920"/>
            <a:ext cx="5212080" cy="4572000"/>
          </a:xfrm>
          <a:prstGeom prst="rect">
            <a:avLst/>
          </a:prstGeom>
          <a:noFill/>
        </p:spPr>
        <p:txBody>
          <a:bodyPr wrap="square">
            <a:spAutoFit/>
          </a:bodyPr>
          <a:lstStyle/>
          <a:p>
            <a:pPr>
              <a:spcAft>
                <a:spcPts val="600"/>
              </a:spcAft>
              <a:defRPr sz="1300">
                <a:solidFill>
                  <a:srgbClr val="FFFFFF"/>
                </a:solidFill>
                <a:latin typeface="Arial"/>
              </a:defRPr>
            </a:pPr>
            <a:r>
              <a:t>**Tích hợp Camera điện thoại để chẩn đoán bệnh:**</a:t>
            </a:r>
          </a:p>
          <a:p>
            <a:pPr lvl="2">
              <a:spcAft>
                <a:spcPts val="600"/>
              </a:spcAft>
              <a:defRPr sz="1300">
                <a:solidFill>
                  <a:srgbClr val="B0BEC5"/>
                </a:solidFill>
                <a:latin typeface="Arial"/>
              </a:defRPr>
            </a:pPr>
            <a:r>
              <a:t>Web UI tận dụng thuộc tính HTML5 `capture="camera"` trong thẻ tải ảnh.</a:t>
            </a:r>
          </a:p>
          <a:p>
            <a:pPr lvl="2">
              <a:spcAft>
                <a:spcPts val="600"/>
              </a:spcAft>
              <a:defRPr sz="1300">
                <a:solidFill>
                  <a:srgbClr val="B0BEC5"/>
                </a:solidFill>
                <a:latin typeface="Arial"/>
              </a:defRPr>
            </a:pPr>
            <a:r>
              <a:t>Khi người vận hành mở giao diện trên điện thoại và bấm "Chụp ảnh lá", trình duyệt sẽ tự động kích hoạt camera điện thoại để chụp cận cảnh chiếc lá nghi bị bệnh.</a:t>
            </a:r>
          </a:p>
          <a:p>
            <a:pPr lvl="2">
              <a:spcAft>
                <a:spcPts val="600"/>
              </a:spcAft>
              <a:defRPr sz="1300">
                <a:solidFill>
                  <a:srgbClr val="B0BEC5"/>
                </a:solidFill>
                <a:latin typeface="Arial"/>
              </a:defRPr>
            </a:pPr>
            <a:r>
              <a:t>Ảnh chụp được đóng gói dạng `Multipart/form-data` và gửi lên API của FastAPI.</a:t>
            </a:r>
          </a:p>
          <a:p>
            <a:pPr lvl="2">
              <a:spcAft>
                <a:spcPts val="600"/>
              </a:spcAft>
              <a:defRPr sz="1300">
                <a:solidFill>
                  <a:srgbClr val="B0BEC5"/>
                </a:solidFill>
                <a:latin typeface="Arial"/>
              </a:defRPr>
            </a:pPr>
            <a:r>
              <a:t>Kết quả chẩn đoán bệnh và độ tin cậy (%) từ mô hình AI được trả về và hiển thị ngay lập tức lên màn hình, đồng thời lưu lịch sử.</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C3C34"/>
        </a:solidFill>
        <a:effectLst/>
      </p:bgPr>
    </p:bg>
    <p:spTree>
      <p:nvGrpSpPr>
        <p:cNvPr id="1" name=""/>
        <p:cNvGrpSpPr/>
        <p:nvPr/>
      </p:nvGrpSpPr>
      <p:grpSpPr/>
      <p:sp>
        <p:nvSpPr>
          <p:cNvPr id="2" name="TextBox 1"/>
          <p:cNvSpPr txBox="1"/>
          <p:nvPr/>
        </p:nvSpPr>
        <p:spPr>
          <a:xfrm>
            <a:off x="914400" y="2286000"/>
            <a:ext cx="10332720" cy="2743200"/>
          </a:xfrm>
          <a:prstGeom prst="rect">
            <a:avLst/>
          </a:prstGeom>
          <a:noFill/>
        </p:spPr>
        <p:txBody>
          <a:bodyPr wrap="square">
            <a:spAutoFit/>
          </a:bodyPr>
          <a:lstStyle/>
          <a:p>
            <a:pPr>
              <a:spcAft>
                <a:spcPts val="1200"/>
              </a:spcAft>
              <a:defRPr sz="2000" b="1">
                <a:solidFill>
                  <a:srgbClr val="2ECC71"/>
                </a:solidFill>
                <a:latin typeface="Arial"/>
              </a:defRPr>
            </a:pPr>
            <a:r>
              <a:t>PHẦN 3</a:t>
            </a:r>
          </a:p>
          <a:p>
            <a:pPr>
              <a:spcAft>
                <a:spcPts val="1600"/>
              </a:spcAft>
              <a:defRPr sz="3600" b="1">
                <a:solidFill>
                  <a:srgbClr val="FFFFFF"/>
                </a:solidFill>
                <a:latin typeface="Arial"/>
              </a:defRPr>
            </a:pPr>
            <a:r>
              <a:t>OPC UA SERVER - CẦU NỐI ĐỒNG BỘ THỜI GIAN THỰC</a:t>
            </a:r>
          </a:p>
          <a:p>
            <a:pPr>
              <a:defRPr sz="1600">
                <a:solidFill>
                  <a:srgbClr val="B0BEC5"/>
                </a:solidFill>
                <a:latin typeface="Arial"/>
              </a:defRPr>
            </a:pPr>
            <a:r>
              <a:t>Giao thức truyền thông công nghiệp kết nối logic điều khiển với mô hình cơ điện tử 3D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51B24"/>
        </a:solidFill>
        <a:effectLst/>
      </p:bgPr>
    </p:bg>
    <p:spTree>
      <p:nvGrpSpPr>
        <p:cNvPr id="1" name=""/>
        <p:cNvGrpSpPr/>
        <p:nvPr/>
      </p:nvGrpSpPr>
      <p:grpSpPr/>
      <p:sp>
        <p:nvSpPr>
          <p:cNvPr id="2" name="Rectangle 1"/>
          <p:cNvSpPr/>
          <p:nvPr/>
        </p:nvSpPr>
        <p:spPr>
          <a:xfrm>
            <a:off x="731520" y="365760"/>
            <a:ext cx="137160" cy="73152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320040"/>
            <a:ext cx="9144000" cy="228600"/>
          </a:xfrm>
          <a:prstGeom prst="rect">
            <a:avLst/>
          </a:prstGeom>
          <a:noFill/>
        </p:spPr>
        <p:txBody>
          <a:bodyPr wrap="square" lIns="0" rIns="0" tIns="0" bIns="0">
            <a:spAutoFit/>
          </a:bodyPr>
          <a:lstStyle/>
          <a:p>
            <a:pPr>
              <a:defRPr sz="1000" b="1">
                <a:solidFill>
                  <a:srgbClr val="2ECC71"/>
                </a:solidFill>
                <a:latin typeface="Arial"/>
              </a:defRPr>
            </a:pPr>
            <a:r>
              <a:t>PHẦN 3: OPC UA SERVER</a:t>
            </a:r>
          </a:p>
        </p:txBody>
      </p:sp>
      <p:sp>
        <p:nvSpPr>
          <p:cNvPr id="4" name="TextBox 3"/>
          <p:cNvSpPr txBox="1"/>
          <p:nvPr/>
        </p:nvSpPr>
        <p:spPr>
          <a:xfrm>
            <a:off x="1005840" y="502920"/>
            <a:ext cx="10058400" cy="548640"/>
          </a:xfrm>
          <a:prstGeom prst="rect">
            <a:avLst/>
          </a:prstGeom>
          <a:noFill/>
        </p:spPr>
        <p:txBody>
          <a:bodyPr wrap="square" lIns="0" rIns="0" tIns="0" bIns="0">
            <a:spAutoFit/>
          </a:bodyPr>
          <a:lstStyle/>
          <a:p>
            <a:pPr>
              <a:defRPr sz="2400" b="1">
                <a:solidFill>
                  <a:srgbClr val="FFFFFF"/>
                </a:solidFill>
                <a:latin typeface="Arial"/>
              </a:defRPr>
            </a:pPr>
            <a:r>
              <a:t>Nguyên Lý Hoạt Động &amp; Vai Trò Của OPC UA Server</a:t>
            </a:r>
          </a:p>
        </p:txBody>
      </p:sp>
      <p:sp>
        <p:nvSpPr>
          <p:cNvPr id="5" name="Rectangle 4"/>
          <p:cNvSpPr/>
          <p:nvPr/>
        </p:nvSpPr>
        <p:spPr>
          <a:xfrm>
            <a:off x="731520" y="1188720"/>
            <a:ext cx="10698480" cy="18288"/>
          </a:xfrm>
          <a:prstGeom prst="rect">
            <a:avLst/>
          </a:prstGeom>
          <a:solidFill>
            <a:srgbClr val="1D26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645920"/>
            <a:ext cx="5120640" cy="4572000"/>
          </a:xfrm>
          <a:prstGeom prst="rect">
            <a:avLst/>
          </a:prstGeom>
          <a:noFill/>
        </p:spPr>
        <p:txBody>
          <a:bodyPr wrap="square">
            <a:spAutoFit/>
          </a:bodyPr>
          <a:lstStyle/>
          <a:p>
            <a:pPr>
              <a:spcAft>
                <a:spcPts val="600"/>
              </a:spcAft>
              <a:defRPr sz="1300">
                <a:solidFill>
                  <a:srgbClr val="FFFFFF"/>
                </a:solidFill>
                <a:latin typeface="Arial"/>
              </a:defRPr>
            </a:pPr>
            <a:r>
              <a:t>**Tổng quan về giao thức OPC UA:**</a:t>
            </a:r>
          </a:p>
          <a:p>
            <a:pPr lvl="2">
              <a:spcAft>
                <a:spcPts val="600"/>
              </a:spcAft>
              <a:defRPr sz="1300">
                <a:solidFill>
                  <a:srgbClr val="B0BEC5"/>
                </a:solidFill>
                <a:latin typeface="Arial"/>
              </a:defRPr>
            </a:pPr>
            <a:r>
              <a:t>Là tiêu chuẩn truyền thông công nghiệp thế hệ mới, độc lập hệ điều hành, bảo mật và tin cậy cao.</a:t>
            </a:r>
          </a:p>
          <a:p>
            <a:pPr lvl="2">
              <a:spcAft>
                <a:spcPts val="600"/>
              </a:spcAft>
              <a:defRPr sz="1300">
                <a:solidFill>
                  <a:srgbClr val="B0BEC5"/>
                </a:solidFill>
                <a:latin typeface="Arial"/>
              </a:defRPr>
            </a:pPr>
            <a:r>
              <a:t>Đóng vai trò là "bộ nhớ chia sẻ" hay ngôn ngữ chung kết nối giữa hệ thống phần mềm (FastAPI, Web) và phần phần mềm mô phỏng (Siemens NX MCD).</a:t>
            </a:r>
          </a:p>
          <a:p>
            <a:pPr>
              <a:spcAft>
                <a:spcPts val="600"/>
              </a:spcAft>
              <a:defRPr sz="1300">
                <a:solidFill>
                  <a:srgbClr val="B0BEC5"/>
                </a:solidFill>
                <a:latin typeface="Arial"/>
              </a:defRPr>
            </a:pPr>
          </a:p>
          <a:p>
            <a:pPr>
              <a:spcAft>
                <a:spcPts val="600"/>
              </a:spcAft>
              <a:defRPr sz="1300">
                <a:solidFill>
                  <a:srgbClr val="FFFFFF"/>
                </a:solidFill>
                <a:latin typeface="Arial"/>
              </a:defRPr>
            </a:pPr>
            <a:r>
              <a:t>**Nguyên lý hoạt động Client - Server:**</a:t>
            </a:r>
          </a:p>
          <a:p>
            <a:pPr lvl="2">
              <a:spcAft>
                <a:spcPts val="600"/>
              </a:spcAft>
              <a:defRPr sz="1300">
                <a:solidFill>
                  <a:srgbClr val="B0BEC5"/>
                </a:solidFill>
                <a:latin typeface="Arial"/>
              </a:defRPr>
            </a:pPr>
            <a:r>
              <a:t>**OPC UA Server (Trung tâm):** Được triển khai bằng thư viện Python `asyncua` chạy trên Pi hoặc PC giả lập, lắng nghe tại cổng `4840`.</a:t>
            </a:r>
          </a:p>
          <a:p>
            <a:pPr lvl="2">
              <a:spcAft>
                <a:spcPts val="600"/>
              </a:spcAft>
              <a:defRPr sz="1300">
                <a:solidFill>
                  <a:srgbClr val="B0BEC5"/>
                </a:solidFill>
                <a:latin typeface="Arial"/>
              </a:defRPr>
            </a:pPr>
            <a:r>
              <a:t>Tạo ra một không gian địa chỉ (Address Space) phân tầng chứa các điểm dữ liệu đại diện cho cảm biến và cơ cấu chấp hành.</a:t>
            </a:r>
          </a:p>
        </p:txBody>
      </p:sp>
      <p:sp>
        <p:nvSpPr>
          <p:cNvPr id="7" name="TextBox 6"/>
          <p:cNvSpPr txBox="1"/>
          <p:nvPr/>
        </p:nvSpPr>
        <p:spPr>
          <a:xfrm>
            <a:off x="6217920" y="1645920"/>
            <a:ext cx="5212080" cy="4572000"/>
          </a:xfrm>
          <a:prstGeom prst="rect">
            <a:avLst/>
          </a:prstGeom>
          <a:noFill/>
        </p:spPr>
        <p:txBody>
          <a:bodyPr wrap="square">
            <a:spAutoFit/>
          </a:bodyPr>
          <a:lstStyle/>
          <a:p>
            <a:pPr>
              <a:spcAft>
                <a:spcPts val="600"/>
              </a:spcAft>
              <a:defRPr sz="1300">
                <a:solidFill>
                  <a:srgbClr val="FFFFFF"/>
                </a:solidFill>
                <a:latin typeface="Arial"/>
              </a:defRPr>
            </a:pPr>
            <a:r>
              <a:t>**Các Client kết nối tương tác:**</a:t>
            </a:r>
          </a:p>
          <a:p>
            <a:pPr lvl="2">
              <a:spcAft>
                <a:spcPts val="600"/>
              </a:spcAft>
              <a:defRPr sz="1300">
                <a:solidFill>
                  <a:srgbClr val="B0BEC5"/>
                </a:solidFill>
                <a:latin typeface="Arial"/>
              </a:defRPr>
            </a:pPr>
            <a:r>
              <a:t>**FastAPI (Client 1):** Khi nhận dữ liệu cảm biến mới từ thực tế, FastAPI ghi giá trị vào các Node cảm biến trên OPC UA Server. Khi nhận lệnh từ Web UI, FastAPI ghi vào các Node thiết bị.</a:t>
            </a:r>
          </a:p>
          <a:p>
            <a:pPr lvl="2">
              <a:spcAft>
                <a:spcPts val="600"/>
              </a:spcAft>
              <a:defRPr sz="1300">
                <a:solidFill>
                  <a:srgbClr val="B0BEC5"/>
                </a:solidFill>
                <a:latin typeface="Arial"/>
              </a:defRPr>
            </a:pPr>
            <a:r>
              <a:t>**Siemens NX MCD (Client 2):** Kết nối vào OPC UA Server, liên tục đọc trạng thái các Node thiết bị (quạt, bơm) để kích hoạt chuyển động cơ điện tử 3D tương ứng.</a:t>
            </a:r>
          </a:p>
          <a:p>
            <a:pPr lvl="2">
              <a:spcAft>
                <a:spcPts val="600"/>
              </a:spcAft>
              <a:defRPr sz="1300">
                <a:solidFill>
                  <a:srgbClr val="B0BEC5"/>
                </a:solidFill>
                <a:latin typeface="Arial"/>
              </a:defRPr>
            </a:pPr>
            <a:r>
              <a:t>**Python Simulator (Client 3 - Chế độ SIL):** Đọc lệnh điều khiển, mô phỏng phản hồi vật lý (ví dụ: bật quạt làm giảm nhiệt độ ảo), ghi ngược thông số ảo vào các Node cảm biến.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51B24"/>
        </a:solidFill>
        <a:effectLst/>
      </p:bgPr>
    </p:bg>
    <p:spTree>
      <p:nvGrpSpPr>
        <p:cNvPr id="1" name=""/>
        <p:cNvGrpSpPr/>
        <p:nvPr/>
      </p:nvGrpSpPr>
      <p:grpSpPr/>
      <p:sp>
        <p:nvSpPr>
          <p:cNvPr id="2" name="Rectangle 1"/>
          <p:cNvSpPr/>
          <p:nvPr/>
        </p:nvSpPr>
        <p:spPr>
          <a:xfrm>
            <a:off x="731520" y="365760"/>
            <a:ext cx="137160" cy="73152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320040"/>
            <a:ext cx="9144000" cy="228600"/>
          </a:xfrm>
          <a:prstGeom prst="rect">
            <a:avLst/>
          </a:prstGeom>
          <a:noFill/>
        </p:spPr>
        <p:txBody>
          <a:bodyPr wrap="square" lIns="0" rIns="0" tIns="0" bIns="0">
            <a:spAutoFit/>
          </a:bodyPr>
          <a:lstStyle/>
          <a:p>
            <a:pPr>
              <a:defRPr sz="1000" b="1">
                <a:solidFill>
                  <a:srgbClr val="2ECC71"/>
                </a:solidFill>
                <a:latin typeface="Arial"/>
              </a:defRPr>
            </a:pPr>
            <a:r>
              <a:t>PHẦN 3: OPC UA SERVER</a:t>
            </a:r>
          </a:p>
        </p:txBody>
      </p:sp>
      <p:sp>
        <p:nvSpPr>
          <p:cNvPr id="4" name="TextBox 3"/>
          <p:cNvSpPr txBox="1"/>
          <p:nvPr/>
        </p:nvSpPr>
        <p:spPr>
          <a:xfrm>
            <a:off x="1005840" y="502920"/>
            <a:ext cx="10058400" cy="548640"/>
          </a:xfrm>
          <a:prstGeom prst="rect">
            <a:avLst/>
          </a:prstGeom>
          <a:noFill/>
        </p:spPr>
        <p:txBody>
          <a:bodyPr wrap="square" lIns="0" rIns="0" tIns="0" bIns="0">
            <a:spAutoFit/>
          </a:bodyPr>
          <a:lstStyle/>
          <a:p>
            <a:pPr>
              <a:defRPr sz="2400" b="1">
                <a:solidFill>
                  <a:srgbClr val="FFFFFF"/>
                </a:solidFill>
                <a:latin typeface="Arial"/>
              </a:defRPr>
            </a:pPr>
            <a:r>
              <a:t>Sơ Đồ Luồng Truyền Thông Software-in-the-Loop</a:t>
            </a:r>
          </a:p>
        </p:txBody>
      </p:sp>
      <p:sp>
        <p:nvSpPr>
          <p:cNvPr id="5" name="Rectangle 4"/>
          <p:cNvSpPr/>
          <p:nvPr/>
        </p:nvSpPr>
        <p:spPr>
          <a:xfrm>
            <a:off x="731520" y="1188720"/>
            <a:ext cx="10698480" cy="18288"/>
          </a:xfrm>
          <a:prstGeom prst="rect">
            <a:avLst/>
          </a:prstGeom>
          <a:solidFill>
            <a:srgbClr val="1D26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463040"/>
            <a:ext cx="10698480" cy="1371600"/>
          </a:xfrm>
          <a:prstGeom prst="rect">
            <a:avLst/>
          </a:prstGeom>
          <a:noFill/>
        </p:spPr>
        <p:txBody>
          <a:bodyPr wrap="square">
            <a:spAutoFit/>
          </a:bodyPr>
          <a:lstStyle/>
          <a:p>
            <a:pPr>
              <a:spcAft>
                <a:spcPts val="600"/>
              </a:spcAft>
              <a:defRPr sz="1300">
                <a:solidFill>
                  <a:srgbClr val="FFFFFF"/>
                </a:solidFill>
                <a:latin typeface="Arial"/>
              </a:defRPr>
            </a:pPr>
            <a:r>
              <a:t>**Luồng trao đổi tín hiệu hai chiều (Real-time Sync):**</a:t>
            </a:r>
          </a:p>
          <a:p>
            <a:pPr lvl="2">
              <a:spcAft>
                <a:spcPts val="600"/>
              </a:spcAft>
              <a:defRPr sz="1300">
                <a:solidFill>
                  <a:srgbClr val="B0BEC5"/>
                </a:solidFill>
                <a:latin typeface="Arial"/>
              </a:defRPr>
            </a:pPr>
            <a:r>
              <a:t>Giao diện Web UI gửi lệnh điều khiển -&gt; FastAPI nhận lệnh -&gt; Ghi lệnh vào OPC UA Server.</a:t>
            </a:r>
          </a:p>
          <a:p>
            <a:pPr lvl="2">
              <a:spcAft>
                <a:spcPts val="600"/>
              </a:spcAft>
              <a:defRPr sz="1300">
                <a:solidFill>
                  <a:srgbClr val="B0BEC5"/>
                </a:solidFill>
                <a:latin typeface="Arial"/>
              </a:defRPr>
            </a:pPr>
            <a:r>
              <a:t>Siemens NX MCD 3D liên tục đọc lệnh từ OPC UA Server -&gt; Chạy hoạt cảnh chuyển động 3D tương ứng.</a:t>
            </a:r>
          </a:p>
          <a:p>
            <a:pPr lvl="2">
              <a:spcAft>
                <a:spcPts val="600"/>
              </a:spcAft>
              <a:defRPr sz="1300">
                <a:solidFill>
                  <a:srgbClr val="B0BEC5"/>
                </a:solidFill>
                <a:latin typeface="Arial"/>
              </a:defRPr>
            </a:pPr>
            <a:r>
              <a:t>Cảm biến ảo trong NX MCD (ví dụ va chạm nước đầy) -&gt; Ghi True vào Node cảm biến trên OPC UA Server.</a:t>
            </a:r>
          </a:p>
          <a:p>
            <a:pPr lvl="2">
              <a:spcAft>
                <a:spcPts val="600"/>
              </a:spcAft>
              <a:defRPr sz="1300">
                <a:solidFill>
                  <a:srgbClr val="B0BEC5"/>
                </a:solidFill>
                <a:latin typeface="Arial"/>
              </a:defRPr>
            </a:pPr>
            <a:r>
              <a:t>FastAPI Backend nhận thay đổi từ OPC UA Server -&gt; Đẩy tin nhắn WebSocket báo đèn đỏ lên Web UI.</a:t>
            </a:r>
          </a:p>
        </p:txBody>
      </p:sp>
      <p:sp>
        <p:nvSpPr>
          <p:cNvPr id="7" name="Rounded Rectangle 6"/>
          <p:cNvSpPr/>
          <p:nvPr/>
        </p:nvSpPr>
        <p:spPr>
          <a:xfrm>
            <a:off x="914400" y="3474720"/>
            <a:ext cx="2011680" cy="914400"/>
          </a:xfrm>
          <a:prstGeom prst="round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Arial"/>
              </a:defRPr>
            </a:pPr>
            <a:r>
              <a:t>Web App</a:t>
            </a:r>
            <a:br/>
            <a:r>
              <a:t>(Giao diện điều khiển)</a:t>
            </a:r>
          </a:p>
        </p:txBody>
      </p:sp>
      <p:sp>
        <p:nvSpPr>
          <p:cNvPr id="8" name="Rounded Rectangle 7"/>
          <p:cNvSpPr/>
          <p:nvPr/>
        </p:nvSpPr>
        <p:spPr>
          <a:xfrm>
            <a:off x="3657600" y="3474720"/>
            <a:ext cx="2011680" cy="914400"/>
          </a:xfrm>
          <a:prstGeom prst="round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Arial"/>
              </a:defRPr>
            </a:pPr>
            <a:r>
              <a:t>FastAPI Backend</a:t>
            </a:r>
            <a:br/>
            <a:r>
              <a:t>(Điều hướng tín hiệu)</a:t>
            </a:r>
          </a:p>
        </p:txBody>
      </p:sp>
      <p:sp>
        <p:nvSpPr>
          <p:cNvPr id="9" name="Rounded Rectangle 8"/>
          <p:cNvSpPr/>
          <p:nvPr/>
        </p:nvSpPr>
        <p:spPr>
          <a:xfrm>
            <a:off x="6400800" y="3474720"/>
            <a:ext cx="2011680" cy="914400"/>
          </a:xfrm>
          <a:prstGeom prst="round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Arial"/>
              </a:defRPr>
            </a:pPr>
            <a:r>
              <a:t>OPC UA Server</a:t>
            </a:r>
            <a:br/>
            <a:r>
              <a:t>(asyncua - Port 4840)</a:t>
            </a:r>
          </a:p>
        </p:txBody>
      </p:sp>
      <p:sp>
        <p:nvSpPr>
          <p:cNvPr id="10" name="Rounded Rectangle 9"/>
          <p:cNvSpPr/>
          <p:nvPr/>
        </p:nvSpPr>
        <p:spPr>
          <a:xfrm>
            <a:off x="9144000" y="3474720"/>
            <a:ext cx="2103120" cy="914400"/>
          </a:xfrm>
          <a:prstGeom prst="roundRect">
            <a:avLst/>
          </a:prstGeom>
          <a:solidFill>
            <a:srgbClr val="F1C40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Arial"/>
              </a:defRPr>
            </a:pPr>
            <a:r>
              <a:t>Siemens NX MCD</a:t>
            </a:r>
            <a:br/>
            <a:r>
              <a:t>(Mô phỏng 3D)</a:t>
            </a:r>
          </a:p>
        </p:txBody>
      </p:sp>
      <p:sp>
        <p:nvSpPr>
          <p:cNvPr id="11" name="Rectangle 10"/>
          <p:cNvSpPr/>
          <p:nvPr/>
        </p:nvSpPr>
        <p:spPr>
          <a:xfrm>
            <a:off x="2926080" y="3931920"/>
            <a:ext cx="731520" cy="36576"/>
          </a:xfrm>
          <a:prstGeom prst="rect">
            <a:avLst/>
          </a:prstGeom>
          <a:solidFill>
            <a:srgbClr val="B0BE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0" y="3931920"/>
            <a:ext cx="731520" cy="36576"/>
          </a:xfrm>
          <a:prstGeom prst="rect">
            <a:avLst/>
          </a:prstGeom>
          <a:solidFill>
            <a:srgbClr val="B0BE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412480" y="3931920"/>
            <a:ext cx="731520" cy="36576"/>
          </a:xfrm>
          <a:prstGeom prst="rect">
            <a:avLst/>
          </a:prstGeom>
          <a:solidFill>
            <a:srgbClr val="B0BE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846320"/>
            <a:ext cx="10698480" cy="1097280"/>
          </a:xfrm>
          <a:prstGeom prst="rect">
            <a:avLst/>
          </a:prstGeom>
          <a:noFill/>
        </p:spPr>
        <p:txBody>
          <a:bodyPr wrap="square">
            <a:spAutoFit/>
          </a:bodyPr>
          <a:lstStyle/>
          <a:p>
            <a:pPr>
              <a:spcAft>
                <a:spcPts val="600"/>
              </a:spcAft>
              <a:defRPr sz="1200">
                <a:solidFill>
                  <a:srgbClr val="FFFFFF"/>
                </a:solidFill>
                <a:latin typeface="Arial"/>
              </a:defRPr>
            </a:pPr>
            <a:r>
              <a:t>**[Chiều 1: Điều khiển]** Web UI (PWM/Relay) ----&gt; FastAPI ----&gt; OPC UA Node ----&gt; NX MCD (Hoạt cảnh khớp quay/đèn sáng)</a:t>
            </a:r>
          </a:p>
          <a:p>
            <a:pPr>
              <a:spcAft>
                <a:spcPts val="600"/>
              </a:spcAft>
              <a:defRPr sz="1200">
                <a:solidFill>
                  <a:srgbClr val="FFFFFF"/>
                </a:solidFill>
                <a:latin typeface="Arial"/>
              </a:defRPr>
            </a:pPr>
            <a:r>
              <a:t>**[Chiều 2: Phản hồi cảm biến]** NX MCD (Va chạm nước/Scale cây) ----&gt; OPC UA Node ----&gt; FastAPI ----&gt; Web UI (Đèn báo động/Biểu đồ)</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51B24"/>
        </a:solidFill>
        <a:effectLst/>
      </p:bgPr>
    </p:bg>
    <p:spTree>
      <p:nvGrpSpPr>
        <p:cNvPr id="1" name=""/>
        <p:cNvGrpSpPr/>
        <p:nvPr/>
      </p:nvGrpSpPr>
      <p:grpSpPr/>
      <p:sp>
        <p:nvSpPr>
          <p:cNvPr id="2" name="Rectangle 1"/>
          <p:cNvSpPr/>
          <p:nvPr/>
        </p:nvSpPr>
        <p:spPr>
          <a:xfrm>
            <a:off x="731520" y="365760"/>
            <a:ext cx="137160" cy="73152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320040"/>
            <a:ext cx="9144000" cy="228600"/>
          </a:xfrm>
          <a:prstGeom prst="rect">
            <a:avLst/>
          </a:prstGeom>
          <a:noFill/>
        </p:spPr>
        <p:txBody>
          <a:bodyPr wrap="square" lIns="0" rIns="0" tIns="0" bIns="0">
            <a:spAutoFit/>
          </a:bodyPr>
          <a:lstStyle/>
          <a:p>
            <a:pPr>
              <a:defRPr sz="1000" b="1">
                <a:solidFill>
                  <a:srgbClr val="2ECC71"/>
                </a:solidFill>
                <a:latin typeface="Arial"/>
              </a:defRPr>
            </a:pPr>
            <a:r>
              <a:t>PHẦN 3: OPC UA SERVER</a:t>
            </a:r>
          </a:p>
        </p:txBody>
      </p:sp>
      <p:sp>
        <p:nvSpPr>
          <p:cNvPr id="4" name="TextBox 3"/>
          <p:cNvSpPr txBox="1"/>
          <p:nvPr/>
        </p:nvSpPr>
        <p:spPr>
          <a:xfrm>
            <a:off x="1005840" y="502920"/>
            <a:ext cx="10058400" cy="548640"/>
          </a:xfrm>
          <a:prstGeom prst="rect">
            <a:avLst/>
          </a:prstGeom>
          <a:noFill/>
        </p:spPr>
        <p:txBody>
          <a:bodyPr wrap="square" lIns="0" rIns="0" tIns="0" bIns="0">
            <a:spAutoFit/>
          </a:bodyPr>
          <a:lstStyle/>
          <a:p>
            <a:pPr>
              <a:defRPr sz="2400" b="1">
                <a:solidFill>
                  <a:srgbClr val="FFFFFF"/>
                </a:solidFill>
                <a:latin typeface="Arial"/>
              </a:defRPr>
            </a:pPr>
            <a:r>
              <a:t>Chi Tiết Thiết Kế Cấu Trúc Nodes Trên Server</a:t>
            </a:r>
          </a:p>
        </p:txBody>
      </p:sp>
      <p:sp>
        <p:nvSpPr>
          <p:cNvPr id="5" name="Rectangle 4"/>
          <p:cNvSpPr/>
          <p:nvPr/>
        </p:nvSpPr>
        <p:spPr>
          <a:xfrm>
            <a:off x="731520" y="1188720"/>
            <a:ext cx="10698480" cy="18288"/>
          </a:xfrm>
          <a:prstGeom prst="rect">
            <a:avLst/>
          </a:prstGeom>
          <a:solidFill>
            <a:srgbClr val="1D26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463040"/>
            <a:ext cx="10698480" cy="548640"/>
          </a:xfrm>
          <a:prstGeom prst="rect">
            <a:avLst/>
          </a:prstGeom>
          <a:noFill/>
        </p:spPr>
        <p:txBody>
          <a:bodyPr wrap="square">
            <a:spAutoFit/>
          </a:bodyPr>
          <a:lstStyle/>
          <a:p>
            <a:pPr>
              <a:spcAft>
                <a:spcPts val="600"/>
              </a:spcAft>
              <a:defRPr sz="1300">
                <a:solidFill>
                  <a:srgbClr val="B0BEC5"/>
                </a:solidFill>
                <a:latin typeface="Arial"/>
              </a:defRPr>
            </a:pPr>
            <a:r>
              <a:t>Để các Client thực và ảo hiểu nhau, không gian địa chỉ trên OPC UA Server được quy hoạch đồng nhất bằng các Node ID có cấu trúc rõ ràng:</a:t>
            </a:r>
          </a:p>
        </p:txBody>
      </p:sp>
      <p:sp>
        <p:nvSpPr>
          <p:cNvPr id="7" name="Rounded Rectangle 6"/>
          <p:cNvSpPr/>
          <p:nvPr/>
        </p:nvSpPr>
        <p:spPr>
          <a:xfrm>
            <a:off x="731520" y="2194560"/>
            <a:ext cx="3383280" cy="4023360"/>
          </a:xfrm>
          <a:prstGeom prst="roundRect">
            <a:avLst/>
          </a:prstGeom>
          <a:solidFill>
            <a:srgbClr val="1D2632"/>
          </a:solidFill>
          <a:ln w="19050">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331720"/>
            <a:ext cx="3017520" cy="3749040"/>
          </a:xfrm>
          <a:prstGeom prst="rect">
            <a:avLst/>
          </a:prstGeom>
          <a:noFill/>
        </p:spPr>
        <p:txBody>
          <a:bodyPr wrap="square">
            <a:spAutoFit/>
          </a:bodyPr>
          <a:lstStyle/>
          <a:p>
            <a:pPr>
              <a:spcAft>
                <a:spcPts val="800"/>
              </a:spcAft>
              <a:defRPr sz="1600" b="1">
                <a:solidFill>
                  <a:srgbClr val="3498DB"/>
                </a:solidFill>
                <a:latin typeface="Arial"/>
              </a:defRPr>
            </a:pPr>
            <a:r>
              <a:t>Thư mục: Cảm biến (Sensors)</a:t>
            </a:r>
          </a:p>
          <a:p>
            <a:pPr>
              <a:spcAft>
                <a:spcPts val="400"/>
              </a:spcAft>
              <a:defRPr sz="1200">
                <a:solidFill>
                  <a:srgbClr val="B0BEC5"/>
                </a:solidFill>
                <a:latin typeface="Arial"/>
              </a:defRPr>
            </a:pPr>
            <a:r>
              <a:t>Lưu trữ dữ liệu đo lường môi trường từ ESP32 hoặc bộ Simulator.</a:t>
            </a:r>
          </a:p>
          <a:p>
            <a:pPr>
              <a:spcAft>
                <a:spcPts val="400"/>
              </a:spcAft>
              <a:defRPr sz="1200">
                <a:solidFill>
                  <a:srgbClr val="B0BEC5"/>
                </a:solidFill>
                <a:latin typeface="Arial"/>
              </a:defRPr>
            </a:pPr>
            <a:r>
              <a:t>**Các Node ID chính:**</a:t>
            </a:r>
          </a:p>
          <a:p>
            <a:pPr>
              <a:spcAft>
                <a:spcPts val="400"/>
              </a:spcAft>
              <a:defRPr sz="1200">
                <a:solidFill>
                  <a:srgbClr val="B0BEC5"/>
                </a:solidFill>
                <a:latin typeface="Arial"/>
              </a:defRPr>
            </a:pPr>
            <a:r>
              <a:t>  - `ns=2;s=sensor.temp` (Float)</a:t>
            </a:r>
            <a:br/>
            <a:r>
              <a:t>    *Nhiệt độ không khí ảo*</a:t>
            </a:r>
          </a:p>
          <a:p>
            <a:pPr>
              <a:spcAft>
                <a:spcPts val="400"/>
              </a:spcAft>
              <a:defRPr sz="1200">
                <a:solidFill>
                  <a:srgbClr val="B0BEC5"/>
                </a:solidFill>
                <a:latin typeface="Arial"/>
              </a:defRPr>
            </a:pPr>
            <a:r>
              <a:t>  - `ns=2;s=sensor.ph` (Float)</a:t>
            </a:r>
            <a:br/>
            <a:r>
              <a:t>    *Độ pH nước bể chứa*</a:t>
            </a:r>
          </a:p>
          <a:p>
            <a:pPr>
              <a:spcAft>
                <a:spcPts val="400"/>
              </a:spcAft>
              <a:defRPr sz="1200">
                <a:solidFill>
                  <a:srgbClr val="B0BEC5"/>
                </a:solidFill>
                <a:latin typeface="Arial"/>
              </a:defRPr>
            </a:pPr>
            <a:r>
              <a:t>  - `ns=2;s=sensor.water_level_1..4`</a:t>
            </a:r>
            <a:br/>
            <a:r>
              <a:t>    (Boolean)</a:t>
            </a:r>
            <a:br/>
            <a:r>
              <a:t>    *Trạng thái 4 mức nước ảo*</a:t>
            </a:r>
          </a:p>
        </p:txBody>
      </p:sp>
      <p:sp>
        <p:nvSpPr>
          <p:cNvPr id="9" name="Rounded Rectangle 8"/>
          <p:cNvSpPr/>
          <p:nvPr/>
        </p:nvSpPr>
        <p:spPr>
          <a:xfrm>
            <a:off x="4389120" y="2194560"/>
            <a:ext cx="3383280" cy="4023360"/>
          </a:xfrm>
          <a:prstGeom prst="roundRect">
            <a:avLst/>
          </a:prstGeom>
          <a:solidFill>
            <a:srgbClr val="1D2632"/>
          </a:solidFill>
          <a:ln w="1905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2331720"/>
            <a:ext cx="3017520" cy="3749040"/>
          </a:xfrm>
          <a:prstGeom prst="rect">
            <a:avLst/>
          </a:prstGeom>
          <a:noFill/>
        </p:spPr>
        <p:txBody>
          <a:bodyPr wrap="square">
            <a:spAutoFit/>
          </a:bodyPr>
          <a:lstStyle/>
          <a:p>
            <a:pPr>
              <a:spcAft>
                <a:spcPts val="800"/>
              </a:spcAft>
              <a:defRPr sz="1600" b="1">
                <a:solidFill>
                  <a:srgbClr val="2ECC71"/>
                </a:solidFill>
                <a:latin typeface="Arial"/>
              </a:defRPr>
            </a:pPr>
            <a:r>
              <a:t>Thư mục: Thiết bị (Actuators)</a:t>
            </a:r>
          </a:p>
          <a:p>
            <a:pPr>
              <a:spcAft>
                <a:spcPts val="400"/>
              </a:spcAft>
              <a:defRPr sz="1200">
                <a:solidFill>
                  <a:srgbClr val="B0BEC5"/>
                </a:solidFill>
                <a:latin typeface="Arial"/>
              </a:defRPr>
            </a:pPr>
            <a:r>
              <a:t>Chứa trạng thái hoạt động và công suất điều khiển thiết bị.</a:t>
            </a:r>
          </a:p>
          <a:p>
            <a:pPr>
              <a:spcAft>
                <a:spcPts val="400"/>
              </a:spcAft>
              <a:defRPr sz="1200">
                <a:solidFill>
                  <a:srgbClr val="B0BEC5"/>
                </a:solidFill>
                <a:latin typeface="Arial"/>
              </a:defRPr>
            </a:pPr>
            <a:r>
              <a:t>**Các Node ID chính:**</a:t>
            </a:r>
          </a:p>
          <a:p>
            <a:pPr>
              <a:spcAft>
                <a:spcPts val="400"/>
              </a:spcAft>
              <a:defRPr sz="1200">
                <a:solidFill>
                  <a:srgbClr val="B0BEC5"/>
                </a:solidFill>
                <a:latin typeface="Arial"/>
              </a:defRPr>
            </a:pPr>
            <a:r>
              <a:t>  - `ns=2;s=actuator.fan_1..4` (Int)</a:t>
            </a:r>
            <a:br/>
            <a:r>
              <a:t>    *Tốc độ quạt gió (0-255)*</a:t>
            </a:r>
          </a:p>
          <a:p>
            <a:pPr>
              <a:spcAft>
                <a:spcPts val="400"/>
              </a:spcAft>
              <a:defRPr sz="1200">
                <a:solidFill>
                  <a:srgbClr val="B0BEC5"/>
                </a:solidFill>
                <a:latin typeface="Arial"/>
              </a:defRPr>
            </a:pPr>
            <a:r>
              <a:t>  - `ns=2;s=actuator.pump_dd_1..2` (Int)</a:t>
            </a:r>
            <a:br/>
            <a:r>
              <a:t>    *Bơm dinh dưỡng PWM*</a:t>
            </a:r>
          </a:p>
          <a:p>
            <a:pPr>
              <a:spcAft>
                <a:spcPts val="400"/>
              </a:spcAft>
              <a:defRPr sz="1200">
                <a:solidFill>
                  <a:srgbClr val="B0BEC5"/>
                </a:solidFill>
                <a:latin typeface="Arial"/>
              </a:defRPr>
            </a:pPr>
            <a:r>
              <a:t>  - `ns=2;s=actuator.pump_220v` (Boolean)</a:t>
            </a:r>
            <a:br/>
            <a:r>
              <a:t>    *Trạng thái bơm chính*</a:t>
            </a:r>
          </a:p>
          <a:p>
            <a:pPr>
              <a:spcAft>
                <a:spcPts val="400"/>
              </a:spcAft>
              <a:defRPr sz="1200">
                <a:solidFill>
                  <a:srgbClr val="B0BEC5"/>
                </a:solidFill>
                <a:latin typeface="Arial"/>
              </a:defRPr>
            </a:pPr>
            <a:r>
              <a:t>  - `ns=2;s=actuator.grow_light_1..4`</a:t>
            </a:r>
            <a:br/>
            <a:r>
              <a:t>    (Boolean)</a:t>
            </a:r>
            <a:br/>
            <a:r>
              <a:t>    *Trạng thái bật/tắt LED*</a:t>
            </a:r>
          </a:p>
        </p:txBody>
      </p:sp>
      <p:sp>
        <p:nvSpPr>
          <p:cNvPr id="11" name="Rounded Rectangle 10"/>
          <p:cNvSpPr/>
          <p:nvPr/>
        </p:nvSpPr>
        <p:spPr>
          <a:xfrm>
            <a:off x="8046720" y="2194560"/>
            <a:ext cx="3383280" cy="4023360"/>
          </a:xfrm>
          <a:prstGeom prst="roundRect">
            <a:avLst/>
          </a:prstGeom>
          <a:solidFill>
            <a:srgbClr val="1D2632"/>
          </a:solidFill>
          <a:ln w="19050">
            <a:solidFill>
              <a:srgbClr val="F1C40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0" y="2331720"/>
            <a:ext cx="3017520" cy="3749040"/>
          </a:xfrm>
          <a:prstGeom prst="rect">
            <a:avLst/>
          </a:prstGeom>
          <a:noFill/>
        </p:spPr>
        <p:txBody>
          <a:bodyPr wrap="square">
            <a:spAutoFit/>
          </a:bodyPr>
          <a:lstStyle/>
          <a:p>
            <a:pPr>
              <a:spcAft>
                <a:spcPts val="800"/>
              </a:spcAft>
              <a:defRPr sz="1600" b="1">
                <a:solidFill>
                  <a:srgbClr val="F1C40F"/>
                </a:solidFill>
                <a:latin typeface="Arial"/>
              </a:defRPr>
            </a:pPr>
            <a:r>
              <a:t>Thư mục: AI (Predictions)</a:t>
            </a:r>
          </a:p>
          <a:p>
            <a:pPr>
              <a:spcAft>
                <a:spcPts val="400"/>
              </a:spcAft>
              <a:defRPr sz="1200">
                <a:solidFill>
                  <a:srgbClr val="B0BEC5"/>
                </a:solidFill>
                <a:latin typeface="Arial"/>
              </a:defRPr>
            </a:pPr>
            <a:r>
              <a:t>Lưu trữ kết quả dự báo sinh trưởng của cây từ mô hình XGBoost.</a:t>
            </a:r>
          </a:p>
          <a:p>
            <a:pPr>
              <a:spcAft>
                <a:spcPts val="400"/>
              </a:spcAft>
              <a:defRPr sz="1200">
                <a:solidFill>
                  <a:srgbClr val="B0BEC5"/>
                </a:solidFill>
                <a:latin typeface="Arial"/>
              </a:defRPr>
            </a:pPr>
            <a:r>
              <a:t>**Các Node ID chính:**</a:t>
            </a:r>
          </a:p>
          <a:p>
            <a:pPr>
              <a:spcAft>
                <a:spcPts val="400"/>
              </a:spcAft>
              <a:defRPr sz="1200">
                <a:solidFill>
                  <a:srgbClr val="B0BEC5"/>
                </a:solidFill>
                <a:latin typeface="Arial"/>
              </a:defRPr>
            </a:pPr>
            <a:r>
              <a:t>  - `ns=2;s=ai.growth_percent` (Float)</a:t>
            </a:r>
            <a:br/>
            <a:r>
              <a:t>    *Tiến trình sinh trưởng (0.0% - 100.0%)*</a:t>
            </a:r>
          </a:p>
          <a:p>
            <a:pPr>
              <a:spcAft>
                <a:spcPts val="400"/>
              </a:spcAft>
              <a:defRPr sz="1200">
                <a:solidFill>
                  <a:srgbClr val="B0BEC5"/>
                </a:solidFill>
                <a:latin typeface="Arial"/>
              </a:defRPr>
            </a:pPr>
            <a:r>
              <a:t>  - `ns=2;s=ai.days_remaining` (Float)</a:t>
            </a:r>
            <a:br/>
            <a:r>
              <a:t>    *Số ngày dự kiến đến kỳ thu hoạch*</a:t>
            </a:r>
          </a:p>
          <a:p>
            <a:pPr>
              <a:spcAft>
                <a:spcPts val="400"/>
              </a:spcAft>
              <a:defRPr sz="1200">
                <a:solidFill>
                  <a:srgbClr val="B0BEC5"/>
                </a:solidFill>
                <a:latin typeface="Arial"/>
              </a:defRPr>
            </a:pPr>
            <a:r>
              <a:t>  - Các Node này được sử dụng để điều khiển tham số Scale cây trong NX MCD.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C3C34"/>
        </a:solidFill>
        <a:effectLst/>
      </p:bgPr>
    </p:bg>
    <p:spTree>
      <p:nvGrpSpPr>
        <p:cNvPr id="1" name=""/>
        <p:cNvGrpSpPr/>
        <p:nvPr/>
      </p:nvGrpSpPr>
      <p:grpSpPr/>
      <p:sp>
        <p:nvSpPr>
          <p:cNvPr id="2" name="TextBox 1"/>
          <p:cNvSpPr txBox="1"/>
          <p:nvPr/>
        </p:nvSpPr>
        <p:spPr>
          <a:xfrm>
            <a:off x="914400" y="2286000"/>
            <a:ext cx="10332720" cy="2743200"/>
          </a:xfrm>
          <a:prstGeom prst="rect">
            <a:avLst/>
          </a:prstGeom>
          <a:noFill/>
        </p:spPr>
        <p:txBody>
          <a:bodyPr wrap="square">
            <a:spAutoFit/>
          </a:bodyPr>
          <a:lstStyle/>
          <a:p>
            <a:pPr>
              <a:spcAft>
                <a:spcPts val="1200"/>
              </a:spcAft>
              <a:defRPr sz="2000" b="1">
                <a:solidFill>
                  <a:srgbClr val="2ECC71"/>
                </a:solidFill>
                <a:latin typeface="Arial"/>
              </a:defRPr>
            </a:pPr>
            <a:r>
              <a:t>PHẦN 4</a:t>
            </a:r>
          </a:p>
          <a:p>
            <a:pPr>
              <a:spcAft>
                <a:spcPts val="1600"/>
              </a:spcAft>
              <a:defRPr sz="3600" b="1">
                <a:solidFill>
                  <a:srgbClr val="FFFFFF"/>
                </a:solidFill>
                <a:latin typeface="Arial"/>
              </a:defRPr>
            </a:pPr>
            <a:r>
              <a:t>TRÍ TUỆ NHÂN TẠO - CNN &amp; XGBOOST</a:t>
            </a:r>
          </a:p>
          <a:p>
            <a:pPr>
              <a:defRPr sz="1600">
                <a:solidFill>
                  <a:srgbClr val="B0BEC5"/>
                </a:solidFill>
                <a:latin typeface="Arial"/>
              </a:defRPr>
            </a:pPr>
            <a:r>
              <a:t>Mô hình học sâu chẩn đoán bệnh lá CNN MobileNetV2 và thuật toán XGBoost dự báo sinh trưởng cây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51B24"/>
        </a:solidFill>
        <a:effectLst/>
      </p:bgPr>
    </p:bg>
    <p:spTree>
      <p:nvGrpSpPr>
        <p:cNvPr id="1" name=""/>
        <p:cNvGrpSpPr/>
        <p:nvPr/>
      </p:nvGrpSpPr>
      <p:grpSpPr/>
      <p:sp>
        <p:nvSpPr>
          <p:cNvPr id="2" name="Rectangle 1"/>
          <p:cNvSpPr/>
          <p:nvPr/>
        </p:nvSpPr>
        <p:spPr>
          <a:xfrm>
            <a:off x="731520" y="365760"/>
            <a:ext cx="137160" cy="73152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320040"/>
            <a:ext cx="9144000" cy="228600"/>
          </a:xfrm>
          <a:prstGeom prst="rect">
            <a:avLst/>
          </a:prstGeom>
          <a:noFill/>
        </p:spPr>
        <p:txBody>
          <a:bodyPr wrap="square" lIns="0" rIns="0" tIns="0" bIns="0">
            <a:spAutoFit/>
          </a:bodyPr>
          <a:lstStyle/>
          <a:p>
            <a:pPr>
              <a:defRPr sz="1000" b="1">
                <a:solidFill>
                  <a:srgbClr val="2ECC71"/>
                </a:solidFill>
                <a:latin typeface="Arial"/>
              </a:defRPr>
            </a:pPr>
            <a:r>
              <a:t>PHẦN 4: TRÍ TUỆ NHÂN TẠO</a:t>
            </a:r>
          </a:p>
        </p:txBody>
      </p:sp>
      <p:sp>
        <p:nvSpPr>
          <p:cNvPr id="4" name="TextBox 3"/>
          <p:cNvSpPr txBox="1"/>
          <p:nvPr/>
        </p:nvSpPr>
        <p:spPr>
          <a:xfrm>
            <a:off x="1005840" y="502920"/>
            <a:ext cx="10058400" cy="548640"/>
          </a:xfrm>
          <a:prstGeom prst="rect">
            <a:avLst/>
          </a:prstGeom>
          <a:noFill/>
        </p:spPr>
        <p:txBody>
          <a:bodyPr wrap="square" lIns="0" rIns="0" tIns="0" bIns="0">
            <a:spAutoFit/>
          </a:bodyPr>
          <a:lstStyle/>
          <a:p>
            <a:pPr>
              <a:defRPr sz="2400" b="1">
                <a:solidFill>
                  <a:srgbClr val="FFFFFF"/>
                </a:solidFill>
                <a:latin typeface="Arial"/>
              </a:defRPr>
            </a:pPr>
            <a:r>
              <a:t>Mô Hình Học Sâu CNN Chẩn Đoán Bệnh Lá</a:t>
            </a:r>
          </a:p>
        </p:txBody>
      </p:sp>
      <p:sp>
        <p:nvSpPr>
          <p:cNvPr id="5" name="Rectangle 4"/>
          <p:cNvSpPr/>
          <p:nvPr/>
        </p:nvSpPr>
        <p:spPr>
          <a:xfrm>
            <a:off x="731520" y="1188720"/>
            <a:ext cx="10698480" cy="18288"/>
          </a:xfrm>
          <a:prstGeom prst="rect">
            <a:avLst/>
          </a:prstGeom>
          <a:solidFill>
            <a:srgbClr val="1D26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645920"/>
            <a:ext cx="5120640" cy="4572000"/>
          </a:xfrm>
          <a:prstGeom prst="rect">
            <a:avLst/>
          </a:prstGeom>
          <a:noFill/>
        </p:spPr>
        <p:txBody>
          <a:bodyPr wrap="square">
            <a:spAutoFit/>
          </a:bodyPr>
          <a:lstStyle/>
          <a:p>
            <a:pPr>
              <a:spcAft>
                <a:spcPts val="600"/>
              </a:spcAft>
              <a:defRPr sz="1300">
                <a:solidFill>
                  <a:srgbClr val="FFFFFF"/>
                </a:solidFill>
                <a:latin typeface="Arial"/>
              </a:defRPr>
            </a:pPr>
            <a:r>
              <a:t>**Tổng quan mô hình CNN MobileNetV2:**</a:t>
            </a:r>
          </a:p>
          <a:p>
            <a:pPr lvl="2">
              <a:spcAft>
                <a:spcPts val="600"/>
              </a:spcAft>
              <a:defRPr sz="1300">
                <a:solidFill>
                  <a:srgbClr val="B0BEC5"/>
                </a:solidFill>
                <a:latin typeface="Arial"/>
              </a:defRPr>
            </a:pPr>
            <a:r>
              <a:t>MobileNetV2 là kiến trúc mạng nơ-ron tích chập được cải tiến của Google, thiết kế tối ưu cho thiết bị nhúng nhờ cơ chế tích chập tách kênh chiều sâu (Depthwise Separable Convolution).</a:t>
            </a:r>
          </a:p>
          <a:p>
            <a:pPr lvl="2">
              <a:spcAft>
                <a:spcPts val="600"/>
              </a:spcAft>
              <a:defRPr sz="1300">
                <a:solidFill>
                  <a:srgbClr val="B0BEC5"/>
                </a:solidFill>
                <a:latin typeface="Arial"/>
              </a:defRPr>
            </a:pPr>
            <a:r>
              <a:t>Giúp giảm thiểu tối đa số lượng tham số tính toán và dung lượng mô hình, duy trì độ chính xác cao.</a:t>
            </a:r>
          </a:p>
          <a:p>
            <a:pPr>
              <a:spcAft>
                <a:spcPts val="600"/>
              </a:spcAft>
              <a:defRPr sz="1300">
                <a:solidFill>
                  <a:srgbClr val="B0BEC5"/>
                </a:solidFill>
                <a:latin typeface="Arial"/>
              </a:defRPr>
            </a:pPr>
          </a:p>
          <a:p>
            <a:pPr>
              <a:spcAft>
                <a:spcPts val="600"/>
              </a:spcAft>
              <a:defRPr sz="1300">
                <a:solidFill>
                  <a:srgbClr val="FFFFFF"/>
                </a:solidFill>
                <a:latin typeface="Arial"/>
              </a:defRPr>
            </a:pPr>
            <a:r>
              <a:t>**Quy trình chuẩn bị và huấn luyện (Google Colab):**</a:t>
            </a:r>
          </a:p>
          <a:p>
            <a:pPr lvl="2">
              <a:spcAft>
                <a:spcPts val="600"/>
              </a:spcAft>
              <a:defRPr sz="1300">
                <a:solidFill>
                  <a:srgbClr val="B0BEC5"/>
                </a:solidFill>
                <a:latin typeface="Arial"/>
              </a:defRPr>
            </a:pPr>
            <a:r>
              <a:t>**Thu thập Dataset:** Xây dựng tập ảnh mẫu khoảng 500-1000 ảnh cho mỗi lớp bệnh gồm: *Healthy* (Lá khỏe), *Leaf Spot* (Đốm lá), *Downy Mildew* (Sương mai), và *Nutrient Deficiency* (Thiếu dinh dưỡng).</a:t>
            </a:r>
          </a:p>
          <a:p>
            <a:pPr lvl="2">
              <a:spcAft>
                <a:spcPts val="600"/>
              </a:spcAft>
              <a:defRPr sz="1300">
                <a:solidFill>
                  <a:srgbClr val="B0BEC5"/>
                </a:solidFill>
                <a:latin typeface="Arial"/>
              </a:defRPr>
            </a:pPr>
            <a:r>
              <a:t>**Huấn luyện (Transfer Learning):** Sử dụng Base Model MobileNetV2 đã huấn luyện sẵn trên tập ImageNet, đóng băng các lớp đầu và huấn luyện lại lớp phân loại cuối (Fine-tuning) bằng Keras/TensorFlow.</a:t>
            </a:r>
          </a:p>
        </p:txBody>
      </p:sp>
      <p:sp>
        <p:nvSpPr>
          <p:cNvPr id="7" name="TextBox 6"/>
          <p:cNvSpPr txBox="1"/>
          <p:nvPr/>
        </p:nvSpPr>
        <p:spPr>
          <a:xfrm>
            <a:off x="6217920" y="1645920"/>
            <a:ext cx="5212080" cy="4572000"/>
          </a:xfrm>
          <a:prstGeom prst="rect">
            <a:avLst/>
          </a:prstGeom>
          <a:noFill/>
        </p:spPr>
        <p:txBody>
          <a:bodyPr wrap="square">
            <a:spAutoFit/>
          </a:bodyPr>
          <a:lstStyle/>
          <a:p>
            <a:pPr>
              <a:spcAft>
                <a:spcPts val="600"/>
              </a:spcAft>
              <a:defRPr sz="1300">
                <a:solidFill>
                  <a:srgbClr val="FFFFFF"/>
                </a:solidFill>
                <a:latin typeface="Arial"/>
              </a:defRPr>
            </a:pPr>
            <a:r>
              <a:t>**Tối ưu hóa và chuyển đổi sang TensorFlow Lite:**</a:t>
            </a:r>
          </a:p>
          <a:p>
            <a:pPr lvl="2">
              <a:spcAft>
                <a:spcPts val="600"/>
              </a:spcAft>
              <a:defRPr sz="1300">
                <a:solidFill>
                  <a:srgbClr val="B0BEC5"/>
                </a:solidFill>
                <a:latin typeface="Arial"/>
              </a:defRPr>
            </a:pPr>
            <a:r>
              <a:t>Mô hình ban đầu sau huấn luyện có kích thước rất lớn (~50MB - 100MB), gây quá tải và trễ lớn khi chạy trực tiếp trên CPU của Raspberry Pi 4.</a:t>
            </a:r>
          </a:p>
          <a:p>
            <a:pPr lvl="2">
              <a:spcAft>
                <a:spcPts val="600"/>
              </a:spcAft>
              <a:defRPr sz="1300">
                <a:solidFill>
                  <a:srgbClr val="B0BEC5"/>
                </a:solidFill>
                <a:latin typeface="Arial"/>
              </a:defRPr>
            </a:pPr>
            <a:r>
              <a:t>Sử dụng công cụ `TFLiteConverter` để thực hiện lượng tử hóa (Quantization) mô hình từ dạng số thực dấu phẩy động 32-bit sang số nguyên 8-bit (INT8).</a:t>
            </a:r>
          </a:p>
          <a:p>
            <a:pPr lvl="2">
              <a:spcAft>
                <a:spcPts val="600"/>
              </a:spcAft>
              <a:defRPr sz="1300">
                <a:solidFill>
                  <a:srgbClr val="B0BEC5"/>
                </a:solidFill>
                <a:latin typeface="Arial"/>
              </a:defRPr>
            </a:pPr>
            <a:r>
              <a:t>Kích thước mô hình giảm xuống **dưới 10MB**, tăng tốc độ suy diễn (inference) lên nhiều lần mà sai lệch độ chính xác không đáng kể.</a:t>
            </a:r>
          </a:p>
          <a:p>
            <a:pPr>
              <a:spcAft>
                <a:spcPts val="600"/>
              </a:spcAft>
              <a:defRPr sz="1300">
                <a:solidFill>
                  <a:srgbClr val="B0BEC5"/>
                </a:solidFill>
                <a:latin typeface="Arial"/>
              </a:defRPr>
            </a:pPr>
          </a:p>
          <a:p>
            <a:pPr>
              <a:spcAft>
                <a:spcPts val="600"/>
              </a:spcAft>
              <a:defRPr sz="1300">
                <a:solidFill>
                  <a:srgbClr val="FFFFFF"/>
                </a:solidFill>
                <a:latin typeface="Arial"/>
              </a:defRPr>
            </a:pPr>
            <a:r>
              <a:t>**Triển khai trên FastAPI:**</a:t>
            </a:r>
          </a:p>
          <a:p>
            <a:pPr lvl="2">
              <a:spcAft>
                <a:spcPts val="600"/>
              </a:spcAft>
              <a:defRPr sz="1300">
                <a:solidFill>
                  <a:srgbClr val="B0BEC5"/>
                </a:solidFill>
                <a:latin typeface="Arial"/>
              </a:defRPr>
            </a:pPr>
            <a:r>
              <a:t>Viết module Python nạp trực tiếp file `.tflite` bằng thư viện `tf.lite.Interpreter`.</a:t>
            </a:r>
          </a:p>
          <a:p>
            <a:pPr lvl="2">
              <a:spcAft>
                <a:spcPts val="600"/>
              </a:spcAft>
              <a:defRPr sz="1300">
                <a:solidFill>
                  <a:srgbClr val="B0BEC5"/>
                </a:solidFill>
                <a:latin typeface="Arial"/>
              </a:defRPr>
            </a:pPr>
            <a:r>
              <a:t>Thực hiện chẩn đoán bất đồng bộ khi nhận ảnh tải lên từ Web UI.</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51B24"/>
        </a:solidFill>
        <a:effectLst/>
      </p:bgPr>
    </p:bg>
    <p:spTree>
      <p:nvGrpSpPr>
        <p:cNvPr id="1" name=""/>
        <p:cNvGrpSpPr/>
        <p:nvPr/>
      </p:nvGrpSpPr>
      <p:grpSpPr/>
      <p:sp>
        <p:nvSpPr>
          <p:cNvPr id="2" name="Rectangle 1"/>
          <p:cNvSpPr/>
          <p:nvPr/>
        </p:nvSpPr>
        <p:spPr>
          <a:xfrm>
            <a:off x="731520" y="365760"/>
            <a:ext cx="137160" cy="73152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320040"/>
            <a:ext cx="9144000" cy="228600"/>
          </a:xfrm>
          <a:prstGeom prst="rect">
            <a:avLst/>
          </a:prstGeom>
          <a:noFill/>
        </p:spPr>
        <p:txBody>
          <a:bodyPr wrap="square" lIns="0" rIns="0" tIns="0" bIns="0">
            <a:spAutoFit/>
          </a:bodyPr>
          <a:lstStyle/>
          <a:p>
            <a:pPr>
              <a:defRPr sz="1000" b="1">
                <a:solidFill>
                  <a:srgbClr val="2ECC71"/>
                </a:solidFill>
                <a:latin typeface="Arial"/>
              </a:defRPr>
            </a:pPr>
            <a:r>
              <a:t>PHẦN 4: TRÍ TUỆ NHÂN TẠO</a:t>
            </a:r>
          </a:p>
        </p:txBody>
      </p:sp>
      <p:sp>
        <p:nvSpPr>
          <p:cNvPr id="4" name="TextBox 3"/>
          <p:cNvSpPr txBox="1"/>
          <p:nvPr/>
        </p:nvSpPr>
        <p:spPr>
          <a:xfrm>
            <a:off x="1005840" y="502920"/>
            <a:ext cx="10058400" cy="548640"/>
          </a:xfrm>
          <a:prstGeom prst="rect">
            <a:avLst/>
          </a:prstGeom>
          <a:noFill/>
        </p:spPr>
        <p:txBody>
          <a:bodyPr wrap="square" lIns="0" rIns="0" tIns="0" bIns="0">
            <a:spAutoFit/>
          </a:bodyPr>
          <a:lstStyle/>
          <a:p>
            <a:pPr>
              <a:defRPr sz="2400" b="1">
                <a:solidFill>
                  <a:srgbClr val="FFFFFF"/>
                </a:solidFill>
                <a:latin typeface="Arial"/>
              </a:defRPr>
            </a:pPr>
            <a:r>
              <a:t>Luồng Xử Lý Suy Diễn Ảnh Của CNN TFLite</a:t>
            </a:r>
          </a:p>
        </p:txBody>
      </p:sp>
      <p:sp>
        <p:nvSpPr>
          <p:cNvPr id="5" name="Rectangle 4"/>
          <p:cNvSpPr/>
          <p:nvPr/>
        </p:nvSpPr>
        <p:spPr>
          <a:xfrm>
            <a:off x="731520" y="1188720"/>
            <a:ext cx="10698480" cy="18288"/>
          </a:xfrm>
          <a:prstGeom prst="rect">
            <a:avLst/>
          </a:prstGeom>
          <a:solidFill>
            <a:srgbClr val="1D26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463040"/>
            <a:ext cx="10698480" cy="1463040"/>
          </a:xfrm>
          <a:prstGeom prst="rect">
            <a:avLst/>
          </a:prstGeom>
          <a:noFill/>
        </p:spPr>
        <p:txBody>
          <a:bodyPr wrap="square">
            <a:spAutoFit/>
          </a:bodyPr>
          <a:lstStyle/>
          <a:p>
            <a:pPr>
              <a:spcAft>
                <a:spcPts val="600"/>
              </a:spcAft>
              <a:defRPr sz="1300">
                <a:solidFill>
                  <a:srgbClr val="FFFFFF"/>
                </a:solidFill>
                <a:latin typeface="Arial"/>
              </a:defRPr>
            </a:pPr>
            <a:r>
              <a:t>**Luồng xử lý từ ảnh chụp camera đến kết quả chẩn đoán:**</a:t>
            </a:r>
          </a:p>
          <a:p>
            <a:pPr lvl="2">
              <a:spcAft>
                <a:spcPts val="600"/>
              </a:spcAft>
              <a:defRPr sz="1300">
                <a:solidFill>
                  <a:srgbClr val="B0BEC5"/>
                </a:solidFill>
                <a:latin typeface="Arial"/>
              </a:defRPr>
            </a:pPr>
            <a:r>
              <a:t>1. Người vận hành chụp ảnh lá bệnh bằng điện thoại -&gt; Tải lên qua Web UI gửi tới API `/api/ai/disease-detect`.</a:t>
            </a:r>
          </a:p>
          <a:p>
            <a:pPr lvl="2">
              <a:spcAft>
                <a:spcPts val="600"/>
              </a:spcAft>
              <a:defRPr sz="1300">
                <a:solidFill>
                  <a:srgbClr val="B0BEC5"/>
                </a:solidFill>
                <a:latin typeface="Arial"/>
              </a:defRPr>
            </a:pPr>
            <a:r>
              <a:t>2. Bộ tiền xử lý (Preprocessing) trên FastAPI chuyển đổi ảnh về định dạng ma trận $224 \times 224 \times 3$, chuẩn hóa giá trị pixel về đoạn $[0, 1]$ hoặc $[-1, 1]$.</a:t>
            </a:r>
          </a:p>
          <a:p>
            <a:pPr lvl="2">
              <a:spcAft>
                <a:spcPts val="600"/>
              </a:spcAft>
              <a:defRPr sz="1300">
                <a:solidFill>
                  <a:srgbClr val="B0BEC5"/>
                </a:solidFill>
                <a:latin typeface="Arial"/>
              </a:defRPr>
            </a:pPr>
            <a:r>
              <a:t>3. Ma trận ảnh được đưa vào `tf.lite.Interpreter` để chạy suy diễn mạng nơ-ron.</a:t>
            </a:r>
          </a:p>
          <a:p>
            <a:pPr lvl="2">
              <a:spcAft>
                <a:spcPts val="600"/>
              </a:spcAft>
              <a:defRPr sz="1300">
                <a:solidFill>
                  <a:srgbClr val="B0BEC5"/>
                </a:solidFill>
                <a:latin typeface="Arial"/>
              </a:defRPr>
            </a:pPr>
            <a:r>
              <a:t>4. Lớp Softmax cuối cùng phân loại và trả ra xác suất tin cậy của các loại bệnh tương ứng.</a:t>
            </a:r>
          </a:p>
          <a:p>
            <a:pPr lvl="2">
              <a:spcAft>
                <a:spcPts val="600"/>
              </a:spcAft>
              <a:defRPr sz="1300">
                <a:solidFill>
                  <a:srgbClr val="B0BEC5"/>
                </a:solidFill>
                <a:latin typeface="Arial"/>
              </a:defRPr>
            </a:pPr>
            <a:r>
              <a:t>5. Trả về kết quả dạng JSON lên Web UI để hiển thị cho người dùng, đồng thời lưu lịch sử chẩn đoán vào InfluxDB.</a:t>
            </a:r>
          </a:p>
        </p:txBody>
      </p:sp>
      <p:sp>
        <p:nvSpPr>
          <p:cNvPr id="7" name="Rounded Rectangle 6"/>
          <p:cNvSpPr/>
          <p:nvPr/>
        </p:nvSpPr>
        <p:spPr>
          <a:xfrm>
            <a:off x="731520" y="3291840"/>
            <a:ext cx="1828800" cy="914400"/>
          </a:xfrm>
          <a:prstGeom prst="round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Arial"/>
              </a:defRPr>
            </a:pPr>
            <a:r>
              <a:t>Camera Điện Thoại</a:t>
            </a:r>
            <a:br/>
            <a:r>
              <a:t>(Chụp lá bệnh)</a:t>
            </a:r>
          </a:p>
        </p:txBody>
      </p:sp>
      <p:sp>
        <p:nvSpPr>
          <p:cNvPr id="8" name="Rounded Rectangle 7"/>
          <p:cNvSpPr/>
          <p:nvPr/>
        </p:nvSpPr>
        <p:spPr>
          <a:xfrm>
            <a:off x="2926080" y="3291840"/>
            <a:ext cx="1828800" cy="914400"/>
          </a:xfrm>
          <a:prstGeom prst="round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Arial"/>
              </a:defRPr>
            </a:pPr>
            <a:r>
              <a:t>Tiền Xử Lý Ảnh</a:t>
            </a:r>
            <a:br/>
            <a:r>
              <a:t>(Resize 224x224)</a:t>
            </a:r>
          </a:p>
        </p:txBody>
      </p:sp>
      <p:sp>
        <p:nvSpPr>
          <p:cNvPr id="9" name="Rounded Rectangle 8"/>
          <p:cNvSpPr/>
          <p:nvPr/>
        </p:nvSpPr>
        <p:spPr>
          <a:xfrm>
            <a:off x="5120640" y="3291840"/>
            <a:ext cx="2011680" cy="914400"/>
          </a:xfrm>
          <a:prstGeom prst="round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Arial"/>
              </a:defRPr>
            </a:pPr>
            <a:r>
              <a:t>TFLite Interpreter</a:t>
            </a:r>
            <a:br/>
            <a:r>
              <a:t>(Chạy suy diễn CNN)</a:t>
            </a:r>
          </a:p>
        </p:txBody>
      </p:sp>
      <p:sp>
        <p:nvSpPr>
          <p:cNvPr id="10" name="Rounded Rectangle 9"/>
          <p:cNvSpPr/>
          <p:nvPr/>
        </p:nvSpPr>
        <p:spPr>
          <a:xfrm>
            <a:off x="7498079" y="3291840"/>
            <a:ext cx="1828800" cy="914400"/>
          </a:xfrm>
          <a:prstGeom prst="round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Arial"/>
              </a:defRPr>
            </a:pPr>
            <a:r>
              <a:t>Phân Loại Bệnh</a:t>
            </a:r>
            <a:br/>
            <a:r>
              <a:t>(Lớp Softmax)</a:t>
            </a:r>
          </a:p>
        </p:txBody>
      </p:sp>
      <p:sp>
        <p:nvSpPr>
          <p:cNvPr id="11" name="Rounded Rectangle 10"/>
          <p:cNvSpPr/>
          <p:nvPr/>
        </p:nvSpPr>
        <p:spPr>
          <a:xfrm>
            <a:off x="9692640" y="3291840"/>
            <a:ext cx="1737360" cy="914400"/>
          </a:xfrm>
          <a:prstGeom prst="roundRect">
            <a:avLst/>
          </a:prstGeom>
          <a:solidFill>
            <a:srgbClr val="F1C40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Arial"/>
              </a:defRPr>
            </a:pPr>
            <a:r>
              <a:t>Kết Quả JSON</a:t>
            </a:r>
            <a:br/>
            <a:r>
              <a:t>(Hiển thị &amp; Lưu)</a:t>
            </a:r>
          </a:p>
        </p:txBody>
      </p:sp>
      <p:sp>
        <p:nvSpPr>
          <p:cNvPr id="12" name="Rectangle 11"/>
          <p:cNvSpPr/>
          <p:nvPr/>
        </p:nvSpPr>
        <p:spPr>
          <a:xfrm>
            <a:off x="2560320" y="3749039"/>
            <a:ext cx="365760" cy="36576"/>
          </a:xfrm>
          <a:prstGeom prst="rect">
            <a:avLst/>
          </a:prstGeom>
          <a:solidFill>
            <a:srgbClr val="B0BE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754880" y="3749039"/>
            <a:ext cx="365760" cy="36576"/>
          </a:xfrm>
          <a:prstGeom prst="rect">
            <a:avLst/>
          </a:prstGeom>
          <a:solidFill>
            <a:srgbClr val="B0BE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132320" y="3749039"/>
            <a:ext cx="365759" cy="36576"/>
          </a:xfrm>
          <a:prstGeom prst="rect">
            <a:avLst/>
          </a:prstGeom>
          <a:solidFill>
            <a:srgbClr val="B0BE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326880" y="3749039"/>
            <a:ext cx="365760" cy="36576"/>
          </a:xfrm>
          <a:prstGeom prst="rect">
            <a:avLst/>
          </a:prstGeom>
          <a:solidFill>
            <a:srgbClr val="B0BE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572000"/>
            <a:ext cx="10698480" cy="1097280"/>
          </a:xfrm>
          <a:prstGeom prst="rect">
            <a:avLst/>
          </a:prstGeom>
          <a:noFill/>
        </p:spPr>
        <p:txBody>
          <a:bodyPr wrap="square">
            <a:spAutoFit/>
          </a:bodyPr>
          <a:lstStyle/>
          <a:p>
            <a:pPr>
              <a:spcAft>
                <a:spcPts val="600"/>
              </a:spcAft>
              <a:defRPr sz="1300">
                <a:solidFill>
                  <a:srgbClr val="FFFFFF"/>
                </a:solidFill>
                <a:latin typeface="Arial"/>
              </a:defRPr>
            </a:pPr>
            <a:r>
              <a:t>**[Dữ liệu đầu ra JSON mẫu]**:</a:t>
            </a:r>
          </a:p>
          <a:p>
            <a:pPr lvl="2">
              <a:spcAft>
                <a:spcPts val="600"/>
              </a:spcAft>
              <a:defRPr sz="1300">
                <a:solidFill>
                  <a:srgbClr val="B0BEC5"/>
                </a:solidFill>
                <a:latin typeface="Arial"/>
              </a:defRPr>
            </a:pPr>
            <a:r>
              <a:t>`{"status": "success", "disease": "Leaf Spot", "confidence": 94.2, "timestamp": "2026-06-12T15:56:00Z"}`</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51B24"/>
        </a:solidFill>
        <a:effectLst/>
      </p:bgPr>
    </p:bg>
    <p:spTree>
      <p:nvGrpSpPr>
        <p:cNvPr id="1" name=""/>
        <p:cNvGrpSpPr/>
        <p:nvPr/>
      </p:nvGrpSpPr>
      <p:grpSpPr/>
      <p:sp>
        <p:nvSpPr>
          <p:cNvPr id="2" name="Rectangle 1"/>
          <p:cNvSpPr/>
          <p:nvPr/>
        </p:nvSpPr>
        <p:spPr>
          <a:xfrm>
            <a:off x="731520" y="365760"/>
            <a:ext cx="137160" cy="73152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320040"/>
            <a:ext cx="9144000" cy="228600"/>
          </a:xfrm>
          <a:prstGeom prst="rect">
            <a:avLst/>
          </a:prstGeom>
          <a:noFill/>
        </p:spPr>
        <p:txBody>
          <a:bodyPr wrap="square" lIns="0" rIns="0" tIns="0" bIns="0">
            <a:spAutoFit/>
          </a:bodyPr>
          <a:lstStyle/>
          <a:p>
            <a:pPr>
              <a:defRPr sz="1000" b="1">
                <a:solidFill>
                  <a:srgbClr val="2ECC71"/>
                </a:solidFill>
                <a:latin typeface="Arial"/>
              </a:defRPr>
            </a:pPr>
            <a:r>
              <a:t>PHẦN 4: TRÍ TUỆ NHÂN TẠO</a:t>
            </a:r>
          </a:p>
        </p:txBody>
      </p:sp>
      <p:sp>
        <p:nvSpPr>
          <p:cNvPr id="4" name="TextBox 3"/>
          <p:cNvSpPr txBox="1"/>
          <p:nvPr/>
        </p:nvSpPr>
        <p:spPr>
          <a:xfrm>
            <a:off x="1005840" y="502920"/>
            <a:ext cx="10058400" cy="548640"/>
          </a:xfrm>
          <a:prstGeom prst="rect">
            <a:avLst/>
          </a:prstGeom>
          <a:noFill/>
        </p:spPr>
        <p:txBody>
          <a:bodyPr wrap="square" lIns="0" rIns="0" tIns="0" bIns="0">
            <a:spAutoFit/>
          </a:bodyPr>
          <a:lstStyle/>
          <a:p>
            <a:pPr>
              <a:defRPr sz="2400" b="1">
                <a:solidFill>
                  <a:srgbClr val="FFFFFF"/>
                </a:solidFill>
                <a:latin typeface="Arial"/>
              </a:defRPr>
            </a:pPr>
            <a:r>
              <a:t>Mô Hình XGBoost Dự Báo Sinh Trưởng &amp; Ngày Thu Hoạch</a:t>
            </a:r>
          </a:p>
        </p:txBody>
      </p:sp>
      <p:sp>
        <p:nvSpPr>
          <p:cNvPr id="5" name="Rectangle 4"/>
          <p:cNvSpPr/>
          <p:nvPr/>
        </p:nvSpPr>
        <p:spPr>
          <a:xfrm>
            <a:off x="731520" y="1188720"/>
            <a:ext cx="10698480" cy="18288"/>
          </a:xfrm>
          <a:prstGeom prst="rect">
            <a:avLst/>
          </a:prstGeom>
          <a:solidFill>
            <a:srgbClr val="1D26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645920"/>
            <a:ext cx="5120640" cy="4572000"/>
          </a:xfrm>
          <a:prstGeom prst="rect">
            <a:avLst/>
          </a:prstGeom>
          <a:noFill/>
        </p:spPr>
        <p:txBody>
          <a:bodyPr wrap="square">
            <a:spAutoFit/>
          </a:bodyPr>
          <a:lstStyle/>
          <a:p>
            <a:pPr>
              <a:spcAft>
                <a:spcPts val="600"/>
              </a:spcAft>
              <a:defRPr sz="1300">
                <a:solidFill>
                  <a:srgbClr val="FFFFFF"/>
                </a:solidFill>
                <a:latin typeface="Arial"/>
              </a:defRPr>
            </a:pPr>
            <a:r>
              <a:t>**Giới thiệu thuật toán XGBoost (Extreme Gradient Boosting):**</a:t>
            </a:r>
          </a:p>
          <a:p>
            <a:pPr lvl="2">
              <a:spcAft>
                <a:spcPts val="600"/>
              </a:spcAft>
              <a:defRPr sz="1300">
                <a:solidFill>
                  <a:srgbClr val="B0BEC5"/>
                </a:solidFill>
                <a:latin typeface="Arial"/>
              </a:defRPr>
            </a:pPr>
            <a:r>
              <a:t>Là thuật toán học máy nâng cao dựa trên cấu trúc cây quyết định (Decision Trees), sử dụng kỹ thuật học tăng cường gradient để tối ưu hóa sai số và tốc độ tính toán.</a:t>
            </a:r>
          </a:p>
          <a:p>
            <a:pPr lvl="2">
              <a:spcAft>
                <a:spcPts val="600"/>
              </a:spcAft>
              <a:defRPr sz="1300">
                <a:solidFill>
                  <a:srgbClr val="B0BEC5"/>
                </a:solidFill>
                <a:latin typeface="Arial"/>
              </a:defRPr>
            </a:pPr>
            <a:r>
              <a:t>Được áp dụng dưới dạng mô hình hồi quy (Regression) để dự báo phần trăm sinh trưởng (`growth_percent`) và số ngày còn lại đến kỳ thu hoạch (`days_remaining`).</a:t>
            </a:r>
          </a:p>
          <a:p>
            <a:pPr>
              <a:spcAft>
                <a:spcPts val="600"/>
              </a:spcAft>
              <a:defRPr sz="1300">
                <a:solidFill>
                  <a:srgbClr val="B0BEC5"/>
                </a:solidFill>
                <a:latin typeface="Arial"/>
              </a:defRPr>
            </a:pPr>
          </a:p>
          <a:p>
            <a:pPr>
              <a:spcAft>
                <a:spcPts val="600"/>
              </a:spcAft>
              <a:defRPr sz="1300">
                <a:solidFill>
                  <a:srgbClr val="FFFFFF"/>
                </a:solidFill>
                <a:latin typeface="Arial"/>
              </a:defRPr>
            </a:pPr>
            <a:r>
              <a:t>**Nguyên lý sửa sai bằng Gradient (Gradient Boosting):**</a:t>
            </a:r>
          </a:p>
          <a:p>
            <a:pPr lvl="2">
              <a:spcAft>
                <a:spcPts val="600"/>
              </a:spcAft>
              <a:defRPr sz="1300">
                <a:solidFill>
                  <a:srgbClr val="B0BEC5"/>
                </a:solidFill>
                <a:latin typeface="Arial"/>
              </a:defRPr>
            </a:pPr>
            <a:r>
              <a:t>Không tạo một cây quyết định đơn lẻ phức tạp dễ bị quá khớp (overfitting).</a:t>
            </a:r>
          </a:p>
          <a:p>
            <a:pPr lvl="2">
              <a:spcAft>
                <a:spcPts val="600"/>
              </a:spcAft>
              <a:defRPr sz="1300">
                <a:solidFill>
                  <a:srgbClr val="B0BEC5"/>
                </a:solidFill>
                <a:latin typeface="Arial"/>
              </a:defRPr>
            </a:pPr>
            <a:r>
              <a:t>Xây dựng tuần tự chuỗi các cây quyết định đơn giản (weak learners). Cây thứ hai được huấn luyện để sửa sai số (residuals) của cây thứ nhất, cây thứ ba sửa sai cho cây thứ hai, cứ thế tiếp diễn.</a:t>
            </a:r>
          </a:p>
          <a:p>
            <a:pPr lvl="2">
              <a:spcAft>
                <a:spcPts val="600"/>
              </a:spcAft>
              <a:defRPr sz="1300">
                <a:solidFill>
                  <a:srgbClr val="B0BEC5"/>
                </a:solidFill>
                <a:latin typeface="Arial"/>
              </a:defRPr>
            </a:pPr>
            <a:r>
              <a:t>Kết quả dự báo cuối cùng là tổng cộng dồn dự đoán từ tất cả các cây quyết định nhân với hệ số học tập (Learning Rate).</a:t>
            </a:r>
          </a:p>
        </p:txBody>
      </p:sp>
      <p:sp>
        <p:nvSpPr>
          <p:cNvPr id="7" name="TextBox 6"/>
          <p:cNvSpPr txBox="1"/>
          <p:nvPr/>
        </p:nvSpPr>
        <p:spPr>
          <a:xfrm>
            <a:off x="6217920" y="1645920"/>
            <a:ext cx="5212080" cy="4572000"/>
          </a:xfrm>
          <a:prstGeom prst="rect">
            <a:avLst/>
          </a:prstGeom>
          <a:noFill/>
        </p:spPr>
        <p:txBody>
          <a:bodyPr wrap="square">
            <a:spAutoFit/>
          </a:bodyPr>
          <a:lstStyle/>
          <a:p>
            <a:pPr>
              <a:spcAft>
                <a:spcPts val="600"/>
              </a:spcAft>
              <a:defRPr sz="1300">
                <a:solidFill>
                  <a:srgbClr val="FFFFFF"/>
                </a:solidFill>
                <a:latin typeface="Arial"/>
              </a:defRPr>
            </a:pPr>
            <a:r>
              <a:t>**Các biến đầu vào (Features) của mô hình:**</a:t>
            </a:r>
          </a:p>
          <a:p>
            <a:pPr lvl="2">
              <a:spcAft>
                <a:spcPts val="600"/>
              </a:spcAft>
              <a:defRPr sz="1300">
                <a:solidFill>
                  <a:srgbClr val="B0BEC5"/>
                </a:solidFill>
                <a:latin typeface="Arial"/>
              </a:defRPr>
            </a:pPr>
            <a:r>
              <a:t>`cumulative_days` (Tuổi cây): Số ngày kể từ khi trồng lên máng NFT.</a:t>
            </a:r>
          </a:p>
          <a:p>
            <a:pPr lvl="2">
              <a:spcAft>
                <a:spcPts val="600"/>
              </a:spcAft>
              <a:defRPr sz="1300">
                <a:solidFill>
                  <a:srgbClr val="B0BEC5"/>
                </a:solidFill>
                <a:latin typeface="Arial"/>
              </a:defRPr>
            </a:pPr>
            <a:r>
              <a:t>`mean_temp` (Nhiệt độ trung bình): Nhiệt độ không khí trung bình trong ngày.</a:t>
            </a:r>
          </a:p>
          <a:p>
            <a:pPr lvl="2">
              <a:spcAft>
                <a:spcPts val="600"/>
              </a:spcAft>
              <a:defRPr sz="1300">
                <a:solidFill>
                  <a:srgbClr val="B0BEC5"/>
                </a:solidFill>
                <a:latin typeface="Arial"/>
              </a:defRPr>
            </a:pPr>
            <a:r>
              <a:t>`daily_light_integral` (DLI - Tích lũy ánh sáng): Tổng lượng ánh sáng tích lũy mà cây nhận được mỗi ngày (đo từ cảm biến BH1750).</a:t>
            </a:r>
          </a:p>
          <a:p>
            <a:pPr lvl="2">
              <a:spcAft>
                <a:spcPts val="600"/>
              </a:spcAft>
              <a:defRPr sz="1300">
                <a:solidFill>
                  <a:srgbClr val="B0BEC5"/>
                </a:solidFill>
                <a:latin typeface="Arial"/>
              </a:defRPr>
            </a:pPr>
            <a:r>
              <a:t>`average_tds` (TDS trung bình): Nồng độ chất dinh dưỡng trung bình trong nước bể chứa.</a:t>
            </a:r>
          </a:p>
          <a:p>
            <a:pPr lvl="2">
              <a:spcAft>
                <a:spcPts val="600"/>
              </a:spcAft>
              <a:defRPr sz="1300">
                <a:solidFill>
                  <a:srgbClr val="B0BEC5"/>
                </a:solidFill>
                <a:latin typeface="Arial"/>
              </a:defRPr>
            </a:pPr>
            <a:r>
              <a:t>`average_ph` (pH trung bình): Chỉ số pH trung bình của nước.</a:t>
            </a:r>
          </a:p>
          <a:p>
            <a:pPr>
              <a:spcAft>
                <a:spcPts val="600"/>
              </a:spcAft>
              <a:defRPr sz="1300">
                <a:solidFill>
                  <a:srgbClr val="B0BEC5"/>
                </a:solidFill>
                <a:latin typeface="Arial"/>
              </a:defRPr>
            </a:pPr>
          </a:p>
          <a:p>
            <a:pPr>
              <a:spcAft>
                <a:spcPts val="600"/>
              </a:spcAft>
              <a:defRPr sz="1300">
                <a:solidFill>
                  <a:srgbClr val="FFFFFF"/>
                </a:solidFill>
                <a:latin typeface="Arial"/>
              </a:defRPr>
            </a:pPr>
            <a:r>
              <a:t>**Các biến đầu ra (Targets):**</a:t>
            </a:r>
          </a:p>
          <a:p>
            <a:pPr lvl="2">
              <a:spcAft>
                <a:spcPts val="600"/>
              </a:spcAft>
              <a:defRPr sz="1300">
                <a:solidFill>
                  <a:srgbClr val="B0BEC5"/>
                </a:solidFill>
                <a:latin typeface="Arial"/>
              </a:defRPr>
            </a:pPr>
            <a:r>
              <a:t>`growth_percent` (0.0% đến 100.0%): Tiến độ lớn lên của cây.</a:t>
            </a:r>
          </a:p>
          <a:p>
            <a:pPr lvl="2">
              <a:spcAft>
                <a:spcPts val="600"/>
              </a:spcAft>
              <a:defRPr sz="1300">
                <a:solidFill>
                  <a:srgbClr val="B0BEC5"/>
                </a:solidFill>
                <a:latin typeface="Arial"/>
              </a:defRPr>
            </a:pPr>
            <a:r>
              <a:t>`days_remaining` (ví dụ từ 30 ngày đếm ước về 0): Ước tính số ngày còn lại đến thời điểm thu hoạch tối ưu.</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51B24"/>
        </a:solidFill>
        <a:effectLst/>
      </p:bgPr>
    </p:bg>
    <p:spTree>
      <p:nvGrpSpPr>
        <p:cNvPr id="1" name=""/>
        <p:cNvGrpSpPr/>
        <p:nvPr/>
      </p:nvGrpSpPr>
      <p:grpSpPr/>
      <p:sp>
        <p:nvSpPr>
          <p:cNvPr id="2" name="Rectangle 1"/>
          <p:cNvSpPr/>
          <p:nvPr/>
        </p:nvSpPr>
        <p:spPr>
          <a:xfrm>
            <a:off x="731520" y="365760"/>
            <a:ext cx="137160" cy="73152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320040"/>
            <a:ext cx="9144000" cy="228600"/>
          </a:xfrm>
          <a:prstGeom prst="rect">
            <a:avLst/>
          </a:prstGeom>
          <a:noFill/>
        </p:spPr>
        <p:txBody>
          <a:bodyPr wrap="square" lIns="0" rIns="0" tIns="0" bIns="0">
            <a:spAutoFit/>
          </a:bodyPr>
          <a:lstStyle/>
          <a:p>
            <a:pPr>
              <a:defRPr sz="1000" b="1">
                <a:solidFill>
                  <a:srgbClr val="2ECC71"/>
                </a:solidFill>
                <a:latin typeface="Arial"/>
              </a:defRPr>
            </a:pPr>
            <a:r>
              <a:t>PHẦN 4: TRÍ TUỆ NHÂN TẠO</a:t>
            </a:r>
          </a:p>
        </p:txBody>
      </p:sp>
      <p:sp>
        <p:nvSpPr>
          <p:cNvPr id="4" name="TextBox 3"/>
          <p:cNvSpPr txBox="1"/>
          <p:nvPr/>
        </p:nvSpPr>
        <p:spPr>
          <a:xfrm>
            <a:off x="1005840" y="502920"/>
            <a:ext cx="10058400" cy="548640"/>
          </a:xfrm>
          <a:prstGeom prst="rect">
            <a:avLst/>
          </a:prstGeom>
          <a:noFill/>
        </p:spPr>
        <p:txBody>
          <a:bodyPr wrap="square" lIns="0" rIns="0" tIns="0" bIns="0">
            <a:spAutoFit/>
          </a:bodyPr>
          <a:lstStyle/>
          <a:p>
            <a:pPr>
              <a:defRPr sz="2400" b="1">
                <a:solidFill>
                  <a:srgbClr val="FFFFFF"/>
                </a:solidFill>
                <a:latin typeface="Arial"/>
              </a:defRPr>
            </a:pPr>
            <a:r>
              <a:t>Vận Hành Dự Báo &amp; Đồng Bộ Kích Thước Cây 3D</a:t>
            </a:r>
          </a:p>
        </p:txBody>
      </p:sp>
      <p:sp>
        <p:nvSpPr>
          <p:cNvPr id="5" name="Rectangle 4"/>
          <p:cNvSpPr/>
          <p:nvPr/>
        </p:nvSpPr>
        <p:spPr>
          <a:xfrm>
            <a:off x="731520" y="1188720"/>
            <a:ext cx="10698480" cy="18288"/>
          </a:xfrm>
          <a:prstGeom prst="rect">
            <a:avLst/>
          </a:prstGeom>
          <a:solidFill>
            <a:srgbClr val="1D26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463040"/>
            <a:ext cx="10698480" cy="1645920"/>
          </a:xfrm>
          <a:prstGeom prst="rect">
            <a:avLst/>
          </a:prstGeom>
          <a:noFill/>
        </p:spPr>
        <p:txBody>
          <a:bodyPr wrap="square">
            <a:spAutoFit/>
          </a:bodyPr>
          <a:lstStyle/>
          <a:p>
            <a:pPr>
              <a:spcAft>
                <a:spcPts val="600"/>
              </a:spcAft>
              <a:defRPr sz="1300">
                <a:solidFill>
                  <a:srgbClr val="FFFFFF"/>
                </a:solidFill>
                <a:latin typeface="Arial"/>
              </a:defRPr>
            </a:pPr>
            <a:r>
              <a:t>**Chu kỳ vận hành của mô hình XGBoost trong hệ thống:**</a:t>
            </a:r>
          </a:p>
          <a:p>
            <a:pPr lvl="2">
              <a:spcAft>
                <a:spcPts val="600"/>
              </a:spcAft>
              <a:defRPr sz="1300">
                <a:solidFill>
                  <a:srgbClr val="B0BEC5"/>
                </a:solidFill>
                <a:latin typeface="Arial"/>
              </a:defRPr>
            </a:pPr>
            <a:r>
              <a:t>1. Hằng ngày, FastAPI tự động truy xuất dữ liệu lịch sử tích lũy từ InfluxDB và trích xuất các đặc trưng đầu vào (DLI, TDS trung bình, pH trung bình, nhiệt độ).</a:t>
            </a:r>
          </a:p>
          <a:p>
            <a:pPr lvl="2">
              <a:spcAft>
                <a:spcPts val="600"/>
              </a:spcAft>
              <a:defRPr sz="1300">
                <a:solidFill>
                  <a:srgbClr val="B0BEC5"/>
                </a:solidFill>
                <a:latin typeface="Arial"/>
              </a:defRPr>
            </a:pPr>
            <a:r>
              <a:t>2. FastAPI gọi mô hình XGBoost Regressor đã được đóng gói để thực hiện dự báo.</a:t>
            </a:r>
          </a:p>
          <a:p>
            <a:pPr lvl="2">
              <a:spcAft>
                <a:spcPts val="600"/>
              </a:spcAft>
              <a:defRPr sz="1300">
                <a:solidFill>
                  <a:srgbClr val="B0BEC5"/>
                </a:solidFill>
                <a:latin typeface="Arial"/>
              </a:defRPr>
            </a:pPr>
            <a:r>
              <a:t>3. Kết quả dự báo được ghi trực tiếp vào các Node tương ứng trên OPC UA Server: `ai.growth_percent` và `ai.days_remaining`.</a:t>
            </a:r>
          </a:p>
          <a:p>
            <a:pPr lvl="2">
              <a:spcAft>
                <a:spcPts val="600"/>
              </a:spcAft>
              <a:defRPr sz="1300">
                <a:solidFill>
                  <a:srgbClr val="B0BEC5"/>
                </a:solidFill>
                <a:latin typeface="Arial"/>
              </a:defRPr>
            </a:pPr>
            <a:r>
              <a:t>4. Phần mềm Siemens NX MCD 3D liên tục đọc Node `ai.growth_percent` và gắn trực tiếp giá trị này vào tham số tỷ lệ hình học (**Scale Factor**) của cụm lettuce 3D.</a:t>
            </a:r>
          </a:p>
          <a:p>
            <a:pPr lvl="2">
              <a:spcAft>
                <a:spcPts val="600"/>
              </a:spcAft>
              <a:defRPr sz="1300">
                <a:solidFill>
                  <a:srgbClr val="B0BEC5"/>
                </a:solidFill>
                <a:latin typeface="Arial"/>
              </a:defRPr>
            </a:pPr>
            <a:r>
              <a:t>5. Nhờ đó, mô hình cây 3D trên màn hình máy tính tự động phóng to dần từ 0% đến 100% tương thích với sự phát triển thực tế của cây rau.</a:t>
            </a:r>
          </a:p>
        </p:txBody>
      </p:sp>
      <p:sp>
        <p:nvSpPr>
          <p:cNvPr id="7" name="Rounded Rectangle 6"/>
          <p:cNvSpPr/>
          <p:nvPr/>
        </p:nvSpPr>
        <p:spPr>
          <a:xfrm>
            <a:off x="731520" y="3474720"/>
            <a:ext cx="1828800" cy="914400"/>
          </a:xfrm>
          <a:prstGeom prst="round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Arial"/>
              </a:defRPr>
            </a:pPr>
            <a:r>
              <a:t>Dữ Liệu InfluxDB</a:t>
            </a:r>
            <a:br/>
            <a:r>
              <a:t>(Thông số môi trường)</a:t>
            </a:r>
          </a:p>
        </p:txBody>
      </p:sp>
      <p:sp>
        <p:nvSpPr>
          <p:cNvPr id="8" name="Rounded Rectangle 7"/>
          <p:cNvSpPr/>
          <p:nvPr/>
        </p:nvSpPr>
        <p:spPr>
          <a:xfrm>
            <a:off x="2926080" y="3474720"/>
            <a:ext cx="1920240" cy="914400"/>
          </a:xfrm>
          <a:prstGeom prst="round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Arial"/>
              </a:defRPr>
            </a:pPr>
            <a:r>
              <a:t>Trích Xuất Đặc Trưng</a:t>
            </a:r>
            <a:br/>
            <a:r>
              <a:t>(Tính DLI, pH, TDS)</a:t>
            </a:r>
          </a:p>
        </p:txBody>
      </p:sp>
      <p:sp>
        <p:nvSpPr>
          <p:cNvPr id="9" name="Rounded Rectangle 8"/>
          <p:cNvSpPr/>
          <p:nvPr/>
        </p:nvSpPr>
        <p:spPr>
          <a:xfrm>
            <a:off x="5212080" y="3474720"/>
            <a:ext cx="1828800" cy="914400"/>
          </a:xfrm>
          <a:prstGeom prst="round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Arial"/>
              </a:defRPr>
            </a:pPr>
            <a:r>
              <a:t>Mô Hình XGBoost</a:t>
            </a:r>
            <a:br/>
            <a:r>
              <a:t>(Dự báo sinh trưởng)</a:t>
            </a:r>
          </a:p>
        </p:txBody>
      </p:sp>
      <p:sp>
        <p:nvSpPr>
          <p:cNvPr id="10" name="Rounded Rectangle 9"/>
          <p:cNvSpPr/>
          <p:nvPr/>
        </p:nvSpPr>
        <p:spPr>
          <a:xfrm>
            <a:off x="7406640" y="3474720"/>
            <a:ext cx="1828800" cy="914400"/>
          </a:xfrm>
          <a:prstGeom prst="round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Arial"/>
              </a:defRPr>
            </a:pPr>
            <a:r>
              <a:t>Node OPC UA</a:t>
            </a:r>
            <a:br/>
            <a:r>
              <a:t>(ai.growth_percent)</a:t>
            </a:r>
          </a:p>
        </p:txBody>
      </p:sp>
      <p:sp>
        <p:nvSpPr>
          <p:cNvPr id="11" name="Rounded Rectangle 10"/>
          <p:cNvSpPr/>
          <p:nvPr/>
        </p:nvSpPr>
        <p:spPr>
          <a:xfrm>
            <a:off x="9601200" y="3474720"/>
            <a:ext cx="1828800" cy="914400"/>
          </a:xfrm>
          <a:prstGeom prst="roundRect">
            <a:avLst/>
          </a:prstGeom>
          <a:solidFill>
            <a:srgbClr val="F1C40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Arial"/>
              </a:defRPr>
            </a:pPr>
            <a:r>
              <a:t>Siemens NX MCD</a:t>
            </a:r>
            <a:br/>
            <a:r>
              <a:t>(Scale cây 3D)</a:t>
            </a:r>
          </a:p>
        </p:txBody>
      </p:sp>
      <p:sp>
        <p:nvSpPr>
          <p:cNvPr id="12" name="Rectangle 11"/>
          <p:cNvSpPr/>
          <p:nvPr/>
        </p:nvSpPr>
        <p:spPr>
          <a:xfrm>
            <a:off x="2560320" y="3931920"/>
            <a:ext cx="365760" cy="36576"/>
          </a:xfrm>
          <a:prstGeom prst="rect">
            <a:avLst/>
          </a:prstGeom>
          <a:solidFill>
            <a:srgbClr val="B0BE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846320" y="3931920"/>
            <a:ext cx="365760" cy="36576"/>
          </a:xfrm>
          <a:prstGeom prst="rect">
            <a:avLst/>
          </a:prstGeom>
          <a:solidFill>
            <a:srgbClr val="B0BE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040880" y="3931920"/>
            <a:ext cx="365760" cy="36576"/>
          </a:xfrm>
          <a:prstGeom prst="rect">
            <a:avLst/>
          </a:prstGeom>
          <a:solidFill>
            <a:srgbClr val="B0BE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235440" y="3931920"/>
            <a:ext cx="365760" cy="36576"/>
          </a:xfrm>
          <a:prstGeom prst="rect">
            <a:avLst/>
          </a:prstGeom>
          <a:solidFill>
            <a:srgbClr val="B0BE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754880"/>
            <a:ext cx="10698480" cy="1097280"/>
          </a:xfrm>
          <a:prstGeom prst="rect">
            <a:avLst/>
          </a:prstGeom>
          <a:noFill/>
        </p:spPr>
        <p:txBody>
          <a:bodyPr wrap="square">
            <a:spAutoFit/>
          </a:bodyPr>
          <a:lstStyle/>
          <a:p>
            <a:pPr>
              <a:spcAft>
                <a:spcPts val="600"/>
              </a:spcAft>
              <a:defRPr sz="1300">
                <a:solidFill>
                  <a:srgbClr val="FFFFFF"/>
                </a:solidFill>
                <a:latin typeface="Arial"/>
              </a:defRPr>
            </a:pPr>
            <a:r>
              <a:t>**[Lợi ích của phương pháp này]**:</a:t>
            </a:r>
          </a:p>
          <a:p>
            <a:pPr lvl="2">
              <a:spcAft>
                <a:spcPts val="600"/>
              </a:spcAft>
              <a:defRPr sz="1300">
                <a:solidFill>
                  <a:srgbClr val="B0BEC5"/>
                </a:solidFill>
                <a:latin typeface="Arial"/>
              </a:defRPr>
            </a:pPr>
            <a:r>
              <a:t>Trực quan hóa tiến trình sinh trưởng được hỗ trợ bởi trí tuệ nhân tạo một cách sinh động.</a:t>
            </a:r>
          </a:p>
          <a:p>
            <a:pPr lvl="2">
              <a:spcAft>
                <a:spcPts val="600"/>
              </a:spcAft>
              <a:defRPr sz="1300">
                <a:solidFill>
                  <a:srgbClr val="B0BEC5"/>
                </a:solidFill>
                <a:latin typeface="Arial"/>
              </a:defRPr>
            </a:pPr>
            <a:r>
              <a:t>Cho phép người vận hành nhìn thấy trước kết quả phát triển ảo trước khi đưa ra quyết định thu hoạch thực tế.</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C3C34"/>
        </a:solidFill>
        <a:effectLst/>
      </p:bgPr>
    </p:bg>
    <p:spTree>
      <p:nvGrpSpPr>
        <p:cNvPr id="1" name=""/>
        <p:cNvGrpSpPr/>
        <p:nvPr/>
      </p:nvGrpSpPr>
      <p:grpSpPr/>
      <p:sp>
        <p:nvSpPr>
          <p:cNvPr id="2" name="TextBox 1"/>
          <p:cNvSpPr txBox="1"/>
          <p:nvPr/>
        </p:nvSpPr>
        <p:spPr>
          <a:xfrm>
            <a:off x="914400" y="2286000"/>
            <a:ext cx="10332720" cy="2743200"/>
          </a:xfrm>
          <a:prstGeom prst="rect">
            <a:avLst/>
          </a:prstGeom>
          <a:noFill/>
        </p:spPr>
        <p:txBody>
          <a:bodyPr wrap="square">
            <a:spAutoFit/>
          </a:bodyPr>
          <a:lstStyle/>
          <a:p>
            <a:pPr>
              <a:spcAft>
                <a:spcPts val="1200"/>
              </a:spcAft>
              <a:defRPr sz="2000" b="1">
                <a:solidFill>
                  <a:srgbClr val="2ECC71"/>
                </a:solidFill>
                <a:latin typeface="Arial"/>
              </a:defRPr>
            </a:pPr>
            <a:r>
              <a:t>PHẦN 5</a:t>
            </a:r>
          </a:p>
          <a:p>
            <a:pPr>
              <a:spcAft>
                <a:spcPts val="1600"/>
              </a:spcAft>
              <a:defRPr sz="3600" b="1">
                <a:solidFill>
                  <a:srgbClr val="FFFFFF"/>
                </a:solidFill>
                <a:latin typeface="Arial"/>
              </a:defRPr>
            </a:pPr>
            <a:r>
              <a:t>DIGITAL TWIN 3D - SIEMENS NX MCD</a:t>
            </a:r>
          </a:p>
          <a:p>
            <a:pPr>
              <a:defRPr sz="1600">
                <a:solidFill>
                  <a:srgbClr val="B0BEC5"/>
                </a:solidFill>
                <a:latin typeface="Arial"/>
              </a:defRPr>
            </a:pPr>
            <a:r>
              <a:t>Mô phỏng động học cơ điện tử, tương tác vật lý dòng chảy chất lỏng và cảm biến tiệm cận ảo</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51B24"/>
        </a:solidFill>
        <a:effectLst/>
      </p:bgPr>
    </p:bg>
    <p:spTree>
      <p:nvGrpSpPr>
        <p:cNvPr id="1" name=""/>
        <p:cNvGrpSpPr/>
        <p:nvPr/>
      </p:nvGrpSpPr>
      <p:grpSpPr/>
      <p:sp>
        <p:nvSpPr>
          <p:cNvPr id="2" name="Rectangle 1"/>
          <p:cNvSpPr/>
          <p:nvPr/>
        </p:nvSpPr>
        <p:spPr>
          <a:xfrm>
            <a:off x="731520" y="365760"/>
            <a:ext cx="137160" cy="73152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320040"/>
            <a:ext cx="9144000" cy="228600"/>
          </a:xfrm>
          <a:prstGeom prst="rect">
            <a:avLst/>
          </a:prstGeom>
          <a:noFill/>
        </p:spPr>
        <p:txBody>
          <a:bodyPr wrap="square" lIns="0" rIns="0" tIns="0" bIns="0">
            <a:spAutoFit/>
          </a:bodyPr>
          <a:lstStyle/>
          <a:p>
            <a:pPr>
              <a:defRPr sz="1000" b="1">
                <a:solidFill>
                  <a:srgbClr val="2ECC71"/>
                </a:solidFill>
                <a:latin typeface="Arial"/>
              </a:defRPr>
            </a:pPr>
            <a:r>
              <a:t>PHẦN 5: DIGITAL TWIN 3D</a:t>
            </a:r>
          </a:p>
        </p:txBody>
      </p:sp>
      <p:sp>
        <p:nvSpPr>
          <p:cNvPr id="4" name="TextBox 3"/>
          <p:cNvSpPr txBox="1"/>
          <p:nvPr/>
        </p:nvSpPr>
        <p:spPr>
          <a:xfrm>
            <a:off x="1005840" y="502920"/>
            <a:ext cx="10058400" cy="548640"/>
          </a:xfrm>
          <a:prstGeom prst="rect">
            <a:avLst/>
          </a:prstGeom>
          <a:noFill/>
        </p:spPr>
        <p:txBody>
          <a:bodyPr wrap="square" lIns="0" rIns="0" tIns="0" bIns="0">
            <a:spAutoFit/>
          </a:bodyPr>
          <a:lstStyle/>
          <a:p>
            <a:pPr>
              <a:defRPr sz="2400" b="1">
                <a:solidFill>
                  <a:srgbClr val="FFFFFF"/>
                </a:solidFill>
                <a:latin typeface="Arial"/>
              </a:defRPr>
            </a:pPr>
            <a:r>
              <a:t>Mô Hình Hóa Bản Sao Số Trên Siemens NX MCD</a:t>
            </a:r>
          </a:p>
        </p:txBody>
      </p:sp>
      <p:sp>
        <p:nvSpPr>
          <p:cNvPr id="5" name="Rectangle 4"/>
          <p:cNvSpPr/>
          <p:nvPr/>
        </p:nvSpPr>
        <p:spPr>
          <a:xfrm>
            <a:off x="731520" y="1188720"/>
            <a:ext cx="10698480" cy="18288"/>
          </a:xfrm>
          <a:prstGeom prst="rect">
            <a:avLst/>
          </a:prstGeom>
          <a:solidFill>
            <a:srgbClr val="1D26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645920"/>
            <a:ext cx="5120640" cy="4572000"/>
          </a:xfrm>
          <a:prstGeom prst="rect">
            <a:avLst/>
          </a:prstGeom>
          <a:noFill/>
        </p:spPr>
        <p:txBody>
          <a:bodyPr wrap="square">
            <a:spAutoFit/>
          </a:bodyPr>
          <a:lstStyle/>
          <a:p>
            <a:pPr>
              <a:spcAft>
                <a:spcPts val="600"/>
              </a:spcAft>
              <a:defRPr sz="1300">
                <a:solidFill>
                  <a:srgbClr val="FFFFFF"/>
                </a:solidFill>
                <a:latin typeface="Arial"/>
              </a:defRPr>
            </a:pPr>
            <a:r>
              <a:t>**Tổng quan về Siemens NX MCD:**</a:t>
            </a:r>
          </a:p>
          <a:p>
            <a:pPr lvl="2">
              <a:spcAft>
                <a:spcPts val="600"/>
              </a:spcAft>
              <a:defRPr sz="1300">
                <a:solidFill>
                  <a:srgbClr val="B0BEC5"/>
                </a:solidFill>
                <a:latin typeface="Arial"/>
              </a:defRPr>
            </a:pPr>
            <a:r>
              <a:t>Mechatronics Concept Designer (MCD) cung cấp môi trường mô phỏng vật lý đa ngành (cơ khí, điện, điều khiển).</a:t>
            </a:r>
          </a:p>
          <a:p>
            <a:pPr lvl="2">
              <a:spcAft>
                <a:spcPts val="600"/>
              </a:spcAft>
              <a:defRPr sz="1300">
                <a:solidFill>
                  <a:srgbClr val="B0BEC5"/>
                </a:solidFill>
                <a:latin typeface="Arial"/>
              </a:defRPr>
            </a:pPr>
            <a:r>
              <a:t>Cho phép biến các mô hình 3D tĩnh (CAD) thành các đối tượng có tính chất vật lý thực tế, có khớp chuyển động, trọng lực và tương tác va chạm.</a:t>
            </a:r>
          </a:p>
          <a:p>
            <a:pPr>
              <a:spcAft>
                <a:spcPts val="600"/>
              </a:spcAft>
              <a:defRPr sz="1300">
                <a:solidFill>
                  <a:srgbClr val="B0BEC5"/>
                </a:solidFill>
                <a:latin typeface="Arial"/>
              </a:defRPr>
            </a:pPr>
          </a:p>
          <a:p>
            <a:pPr>
              <a:spcAft>
                <a:spcPts val="600"/>
              </a:spcAft>
              <a:defRPr sz="1300">
                <a:solidFill>
                  <a:srgbClr val="FFFFFF"/>
                </a:solidFill>
                <a:latin typeface="Arial"/>
              </a:defRPr>
            </a:pPr>
            <a:r>
              <a:t>**Quy trình xây dựng mô hình ảo:**</a:t>
            </a:r>
          </a:p>
          <a:p>
            <a:pPr lvl="2">
              <a:spcAft>
                <a:spcPts val="600"/>
              </a:spcAft>
              <a:defRPr sz="1300">
                <a:solidFill>
                  <a:srgbClr val="B0BEC5"/>
                </a:solidFill>
                <a:latin typeface="Arial"/>
              </a:defRPr>
            </a:pPr>
            <a:r>
              <a:t>**Thiết kế CAD 3D:** Thiết kế mô hình tỷ lệ hình học 1:1 của khung thép giàn thủy canh, máng NFT, bể chứa dung dịch dinh dưỡng, quạt thông gió, phao cơ học, đèn LED Grow và cây xà lách.</a:t>
            </a:r>
          </a:p>
          <a:p>
            <a:pPr lvl="2">
              <a:spcAft>
                <a:spcPts val="600"/>
              </a:spcAft>
              <a:defRPr sz="1300">
                <a:solidFill>
                  <a:srgbClr val="B0BEC5"/>
                </a:solidFill>
                <a:latin typeface="Arial"/>
              </a:defRPr>
            </a:pPr>
            <a:r>
              <a:t>**MCD Physics Configuration:** Khai báo các đối tượng cứng (Rigid Body) để gán khối lượng, trọng lực, ma sát cho quạt, máng, phao.</a:t>
            </a:r>
          </a:p>
        </p:txBody>
      </p:sp>
      <p:sp>
        <p:nvSpPr>
          <p:cNvPr id="7" name="TextBox 6"/>
          <p:cNvSpPr txBox="1"/>
          <p:nvPr/>
        </p:nvSpPr>
        <p:spPr>
          <a:xfrm>
            <a:off x="6217920" y="1645920"/>
            <a:ext cx="5212080" cy="4572000"/>
          </a:xfrm>
          <a:prstGeom prst="rect">
            <a:avLst/>
          </a:prstGeom>
          <a:noFill/>
        </p:spPr>
        <p:txBody>
          <a:bodyPr wrap="square">
            <a:spAutoFit/>
          </a:bodyPr>
          <a:lstStyle/>
          <a:p>
            <a:pPr>
              <a:spcAft>
                <a:spcPts val="600"/>
              </a:spcAft>
              <a:defRPr sz="1300">
                <a:solidFill>
                  <a:srgbClr val="FFFFFF"/>
                </a:solidFill>
                <a:latin typeface="Arial"/>
              </a:defRPr>
            </a:pPr>
            <a:r>
              <a:t>**Thiết lập các khớp động học (Joints &amp; Motion):**</a:t>
            </a:r>
          </a:p>
          <a:p>
            <a:pPr lvl="2">
              <a:spcAft>
                <a:spcPts val="600"/>
              </a:spcAft>
              <a:defRPr sz="1300">
                <a:solidFill>
                  <a:srgbClr val="B0BEC5"/>
                </a:solidFill>
                <a:latin typeface="Arial"/>
              </a:defRPr>
            </a:pPr>
            <a:r>
              <a:t>Gán khớp xoay (Hinged Joint) cho các cánh quạt thông gió.</a:t>
            </a:r>
          </a:p>
          <a:p>
            <a:pPr lvl="2">
              <a:spcAft>
                <a:spcPts val="600"/>
              </a:spcAft>
              <a:defRPr sz="1300">
                <a:solidFill>
                  <a:srgbClr val="B0BEC5"/>
                </a:solidFill>
                <a:latin typeface="Arial"/>
              </a:defRPr>
            </a:pPr>
            <a:r>
              <a:t>Gán khớp tịnh tiến dọc (Prismatic Joint) cho phao đo mực nước trong bể chứa.</a:t>
            </a:r>
          </a:p>
          <a:p>
            <a:pPr>
              <a:spcAft>
                <a:spcPts val="600"/>
              </a:spcAft>
              <a:defRPr sz="1300">
                <a:solidFill>
                  <a:srgbClr val="B0BEC5"/>
                </a:solidFill>
                <a:latin typeface="Arial"/>
              </a:defRPr>
            </a:pPr>
          </a:p>
          <a:p>
            <a:pPr>
              <a:spcAft>
                <a:spcPts val="600"/>
              </a:spcAft>
              <a:defRPr sz="1300">
                <a:solidFill>
                  <a:srgbClr val="FFFFFF"/>
                </a:solidFill>
                <a:latin typeface="Arial"/>
              </a:defRPr>
            </a:pPr>
            <a:r>
              <a:t>**Kết nối truyền thông (External Signal Configuration):**</a:t>
            </a:r>
          </a:p>
          <a:p>
            <a:pPr lvl="2">
              <a:spcAft>
                <a:spcPts val="600"/>
              </a:spcAft>
              <a:defRPr sz="1300">
                <a:solidFill>
                  <a:srgbClr val="B0BEC5"/>
                </a:solidFill>
                <a:latin typeface="Arial"/>
              </a:defRPr>
            </a:pPr>
            <a:r>
              <a:t>Định cấu hình kết nối OPC UA Client tích hợp trong NX MCD.</a:t>
            </a:r>
          </a:p>
          <a:p>
            <a:pPr lvl="2">
              <a:spcAft>
                <a:spcPts val="600"/>
              </a:spcAft>
              <a:defRPr sz="1300">
                <a:solidFill>
                  <a:srgbClr val="B0BEC5"/>
                </a:solidFill>
                <a:latin typeface="Arial"/>
              </a:defRPr>
            </a:pPr>
            <a:r>
              <a:t>Thực hiện ánh xạ tín hiệu (Signal Mapping): Liên kết các tham số điều khiển ảo (khớp quay, khớp tịnh tiến, tính chất vật liệu) với các Node ID tương ứng trên OPC UA Server.</a:t>
            </a:r>
          </a:p>
          <a:p>
            <a:pPr lvl="2">
              <a:spcAft>
                <a:spcPts val="600"/>
              </a:spcAft>
              <a:defRPr sz="1300">
                <a:solidFill>
                  <a:srgbClr val="B0BEC5"/>
                </a:solidFill>
                <a:latin typeface="Arial"/>
              </a:defRPr>
            </a:pPr>
            <a:r>
              <a:t>Chạy mô hình ở chế độ kiểm thử vòng lặp phần mềm (Software-in-the-Loop - SIL) để kiểm tra tính đúng đắn của giải thuật điều khiển trước khi đấu nối phần cứng thật.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51B24"/>
        </a:solidFill>
        <a:effectLst/>
      </p:bgPr>
    </p:bg>
    <p:spTree>
      <p:nvGrpSpPr>
        <p:cNvPr id="1" name=""/>
        <p:cNvGrpSpPr/>
        <p:nvPr/>
      </p:nvGrpSpPr>
      <p:grpSpPr/>
      <p:sp>
        <p:nvSpPr>
          <p:cNvPr id="2" name="Rectangle 1"/>
          <p:cNvSpPr/>
          <p:nvPr/>
        </p:nvSpPr>
        <p:spPr>
          <a:xfrm>
            <a:off x="731520" y="365760"/>
            <a:ext cx="137160" cy="73152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320040"/>
            <a:ext cx="9144000" cy="228600"/>
          </a:xfrm>
          <a:prstGeom prst="rect">
            <a:avLst/>
          </a:prstGeom>
          <a:noFill/>
        </p:spPr>
        <p:txBody>
          <a:bodyPr wrap="square" lIns="0" rIns="0" tIns="0" bIns="0">
            <a:spAutoFit/>
          </a:bodyPr>
          <a:lstStyle/>
          <a:p>
            <a:pPr>
              <a:defRPr sz="1000" b="1">
                <a:solidFill>
                  <a:srgbClr val="2ECC71"/>
                </a:solidFill>
                <a:latin typeface="Arial"/>
              </a:defRPr>
            </a:pPr>
            <a:r>
              <a:t>PHẦN 5: DIGITAL TWIN 3D</a:t>
            </a:r>
          </a:p>
        </p:txBody>
      </p:sp>
      <p:sp>
        <p:nvSpPr>
          <p:cNvPr id="4" name="TextBox 3"/>
          <p:cNvSpPr txBox="1"/>
          <p:nvPr/>
        </p:nvSpPr>
        <p:spPr>
          <a:xfrm>
            <a:off x="1005840" y="502920"/>
            <a:ext cx="10058400" cy="548640"/>
          </a:xfrm>
          <a:prstGeom prst="rect">
            <a:avLst/>
          </a:prstGeom>
          <a:noFill/>
        </p:spPr>
        <p:txBody>
          <a:bodyPr wrap="square" lIns="0" rIns="0" tIns="0" bIns="0">
            <a:spAutoFit/>
          </a:bodyPr>
          <a:lstStyle/>
          <a:p>
            <a:pPr>
              <a:defRPr sz="2400" b="1">
                <a:solidFill>
                  <a:srgbClr val="FFFFFF"/>
                </a:solidFill>
                <a:latin typeface="Arial"/>
              </a:defRPr>
            </a:pPr>
            <a:r>
              <a:t>Mô Phỏng Cơ Cấu Chấp Hành Ảo Trong NX MCD</a:t>
            </a:r>
          </a:p>
        </p:txBody>
      </p:sp>
      <p:sp>
        <p:nvSpPr>
          <p:cNvPr id="5" name="Rectangle 4"/>
          <p:cNvSpPr/>
          <p:nvPr/>
        </p:nvSpPr>
        <p:spPr>
          <a:xfrm>
            <a:off x="731520" y="1188720"/>
            <a:ext cx="10698480" cy="18288"/>
          </a:xfrm>
          <a:prstGeom prst="rect">
            <a:avLst/>
          </a:prstGeom>
          <a:solidFill>
            <a:srgbClr val="1D26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645920"/>
            <a:ext cx="5120640" cy="4572000"/>
          </a:xfrm>
          <a:prstGeom prst="rect">
            <a:avLst/>
          </a:prstGeom>
          <a:noFill/>
        </p:spPr>
        <p:txBody>
          <a:bodyPr wrap="square">
            <a:spAutoFit/>
          </a:bodyPr>
          <a:lstStyle/>
          <a:p>
            <a:pPr>
              <a:spcAft>
                <a:spcPts val="600"/>
              </a:spcAft>
              <a:defRPr sz="1300">
                <a:solidFill>
                  <a:srgbClr val="FFFFFF"/>
                </a:solidFill>
                <a:latin typeface="Arial"/>
              </a:defRPr>
            </a:pPr>
            <a:r>
              <a:t>**1. Mô phỏng động học quạt thông gió:**</a:t>
            </a:r>
          </a:p>
          <a:p>
            <a:pPr lvl="2">
              <a:spcAft>
                <a:spcPts val="600"/>
              </a:spcAft>
              <a:defRPr sz="1300">
                <a:solidFill>
                  <a:srgbClr val="B0BEC5"/>
                </a:solidFill>
                <a:latin typeface="Arial"/>
              </a:defRPr>
            </a:pPr>
            <a:r>
              <a:t>Khớp xoay (Hinged Joint) của cánh quạt được gán cơ chế điều khiển tốc độ (Speed Control).</a:t>
            </a:r>
          </a:p>
          <a:p>
            <a:pPr lvl="2">
              <a:spcAft>
                <a:spcPts val="600"/>
              </a:spcAft>
              <a:defRPr sz="1300">
                <a:solidFill>
                  <a:srgbClr val="B0BEC5"/>
                </a:solidFill>
                <a:latin typeface="Arial"/>
              </a:defRPr>
            </a:pPr>
            <a:r>
              <a:t>Khi nhận giá trị xung PWM (0-255) từ Node ID tương ứng qua OPC UA, hệ thống sẽ nhân với hệ số quy đổi để gán vận tốc quay ảo (vòng/phút).</a:t>
            </a:r>
          </a:p>
          <a:p>
            <a:pPr lvl="2">
              <a:spcAft>
                <a:spcPts val="600"/>
              </a:spcAft>
              <a:defRPr sz="1300">
                <a:solidFill>
                  <a:srgbClr val="B0BEC5"/>
                </a:solidFill>
                <a:latin typeface="Arial"/>
              </a:defRPr>
            </a:pPr>
            <a:r>
              <a:t>Người vận hành quan sát thấy cánh quạt 3D quay nhanh, chậm tương ứng với thao tác kéo thanh trượt trên Web UI.</a:t>
            </a:r>
          </a:p>
          <a:p>
            <a:pPr>
              <a:spcAft>
                <a:spcPts val="600"/>
              </a:spcAft>
              <a:defRPr sz="1300">
                <a:solidFill>
                  <a:srgbClr val="B0BEC5"/>
                </a:solidFill>
                <a:latin typeface="Arial"/>
              </a:defRPr>
            </a:pPr>
          </a:p>
          <a:p>
            <a:pPr>
              <a:spcAft>
                <a:spcPts val="600"/>
              </a:spcAft>
              <a:defRPr sz="1300">
                <a:solidFill>
                  <a:srgbClr val="FFFFFF"/>
                </a:solidFill>
                <a:latin typeface="Arial"/>
              </a:defRPr>
            </a:pPr>
            <a:r>
              <a:t>**2. Mô phỏng ánh sáng đèn LED Grow:**</a:t>
            </a:r>
          </a:p>
          <a:p>
            <a:pPr lvl="2">
              <a:spcAft>
                <a:spcPts val="600"/>
              </a:spcAft>
              <a:defRPr sz="1300">
                <a:solidFill>
                  <a:srgbClr val="B0BEC5"/>
                </a:solidFill>
                <a:latin typeface="Arial"/>
              </a:defRPr>
            </a:pPr>
            <a:r>
              <a:t>Gán thuộc tính vật liệu phát quang (Emission/Luminance) cho các cụm đèn LED Grow 3D.</a:t>
            </a:r>
          </a:p>
          <a:p>
            <a:pPr lvl="2">
              <a:spcAft>
                <a:spcPts val="600"/>
              </a:spcAft>
              <a:defRPr sz="1300">
                <a:solidFill>
                  <a:srgbClr val="B0BEC5"/>
                </a:solidFill>
                <a:latin typeface="Arial"/>
              </a:defRPr>
            </a:pPr>
            <a:r>
              <a:t>Khi nhận tín hiệu Relay ON (True) từ OPC UA Server, vật liệu của đèn tự động thay đổi từ màu xám tối sang màu sáng hồng/đỏ rực rỡ, biểu thị đèn đang hoạt động chiếu sáng bổ sung quang phổ cho cây rau.</a:t>
            </a:r>
          </a:p>
        </p:txBody>
      </p:sp>
      <p:sp>
        <p:nvSpPr>
          <p:cNvPr id="7" name="TextBox 6"/>
          <p:cNvSpPr txBox="1"/>
          <p:nvPr/>
        </p:nvSpPr>
        <p:spPr>
          <a:xfrm>
            <a:off x="6217920" y="1645920"/>
            <a:ext cx="5212080" cy="4572000"/>
          </a:xfrm>
          <a:prstGeom prst="rect">
            <a:avLst/>
          </a:prstGeom>
          <a:noFill/>
        </p:spPr>
        <p:txBody>
          <a:bodyPr wrap="square">
            <a:spAutoFit/>
          </a:bodyPr>
          <a:lstStyle/>
          <a:p>
            <a:pPr>
              <a:spcAft>
                <a:spcPts val="600"/>
              </a:spcAft>
              <a:defRPr sz="1300">
                <a:solidFill>
                  <a:srgbClr val="FFFFFF"/>
                </a:solidFill>
                <a:latin typeface="Arial"/>
              </a:defRPr>
            </a:pPr>
            <a:r>
              <a:t>**3. Mô phỏng máy bơm &amp; dòng chảy dinh dưỡng:**</a:t>
            </a:r>
          </a:p>
          <a:p>
            <a:pPr lvl="2">
              <a:spcAft>
                <a:spcPts val="600"/>
              </a:spcAft>
              <a:defRPr sz="1300">
                <a:solidFill>
                  <a:srgbClr val="B0BEC5"/>
                </a:solidFill>
                <a:latin typeface="Arial"/>
              </a:defRPr>
            </a:pPr>
            <a:r>
              <a:t>Sử dụng tính năng tạo hạt vật lý (Liquid/Particle Path) trong NX MCD để giả lập dòng nước chảy.</a:t>
            </a:r>
          </a:p>
          <a:p>
            <a:pPr lvl="2">
              <a:spcAft>
                <a:spcPts val="600"/>
              </a:spcAft>
              <a:defRPr sz="1300">
                <a:solidFill>
                  <a:srgbClr val="B0BEC5"/>
                </a:solidFill>
                <a:latin typeface="Arial"/>
              </a:defRPr>
            </a:pPr>
            <a:r>
              <a:t>Khi bơm tuần hoàn chính ở trạng thái ON, vòi cấp nước sẽ phun ra liên tục các hạt chất lỏng ảo chịu tác động của trọng lực.</a:t>
            </a:r>
          </a:p>
          <a:p>
            <a:pPr lvl="2">
              <a:spcAft>
                <a:spcPts val="600"/>
              </a:spcAft>
              <a:defRPr sz="1300">
                <a:solidFill>
                  <a:srgbClr val="B0BEC5"/>
                </a:solidFill>
                <a:latin typeface="Arial"/>
              </a:defRPr>
            </a:pPr>
            <a:r>
              <a:t>Các hạt nước ảo tự động chảy dọc theo độ dốc của máng NFT, bao quanh rễ cây ảo và chảy dồn về ống thoát để rơi ngược lại bể chứa.</a:t>
            </a:r>
          </a:p>
          <a:p>
            <a:pPr lvl="2">
              <a:spcAft>
                <a:spcPts val="600"/>
              </a:spcAft>
              <a:defRPr sz="1300">
                <a:solidFill>
                  <a:srgbClr val="B0BEC5"/>
                </a:solidFill>
                <a:latin typeface="Arial"/>
              </a:defRPr>
            </a:pPr>
            <a:r>
              <a:t>Lưu lượng nước ảo phun ra (tần suất sinh hạt) được lập trình tỷ lệ thuận với xung điều khiển PWM của bơm châm dinh dưỡng nhận từ OPC UA Server.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51B24"/>
        </a:solidFill>
        <a:effectLst/>
      </p:bgPr>
    </p:bg>
    <p:spTree>
      <p:nvGrpSpPr>
        <p:cNvPr id="1" name=""/>
        <p:cNvGrpSpPr/>
        <p:nvPr/>
      </p:nvGrpSpPr>
      <p:grpSpPr/>
      <p:sp>
        <p:nvSpPr>
          <p:cNvPr id="2" name="Rectangle 1"/>
          <p:cNvSpPr/>
          <p:nvPr/>
        </p:nvSpPr>
        <p:spPr>
          <a:xfrm>
            <a:off x="731520" y="365760"/>
            <a:ext cx="137160" cy="73152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320040"/>
            <a:ext cx="9144000" cy="228600"/>
          </a:xfrm>
          <a:prstGeom prst="rect">
            <a:avLst/>
          </a:prstGeom>
          <a:noFill/>
        </p:spPr>
        <p:txBody>
          <a:bodyPr wrap="square" lIns="0" rIns="0" tIns="0" bIns="0">
            <a:spAutoFit/>
          </a:bodyPr>
          <a:lstStyle/>
          <a:p>
            <a:pPr>
              <a:defRPr sz="1000" b="1">
                <a:solidFill>
                  <a:srgbClr val="2ECC71"/>
                </a:solidFill>
                <a:latin typeface="Arial"/>
              </a:defRPr>
            </a:pPr>
            <a:r>
              <a:t>PHẦN 5: DIGITAL TWIN 3D</a:t>
            </a:r>
          </a:p>
        </p:txBody>
      </p:sp>
      <p:sp>
        <p:nvSpPr>
          <p:cNvPr id="4" name="TextBox 3"/>
          <p:cNvSpPr txBox="1"/>
          <p:nvPr/>
        </p:nvSpPr>
        <p:spPr>
          <a:xfrm>
            <a:off x="1005840" y="502920"/>
            <a:ext cx="10058400" cy="548640"/>
          </a:xfrm>
          <a:prstGeom prst="rect">
            <a:avLst/>
          </a:prstGeom>
          <a:noFill/>
        </p:spPr>
        <p:txBody>
          <a:bodyPr wrap="square" lIns="0" rIns="0" tIns="0" bIns="0">
            <a:spAutoFit/>
          </a:bodyPr>
          <a:lstStyle/>
          <a:p>
            <a:pPr>
              <a:defRPr sz="2400" b="1">
                <a:solidFill>
                  <a:srgbClr val="FFFFFF"/>
                </a:solidFill>
                <a:latin typeface="Arial"/>
              </a:defRPr>
            </a:pPr>
            <a:r>
              <a:t>Mô Phỏng Mực Nước &amp; Cảm Biến Tiệm Cận Ảo</a:t>
            </a:r>
          </a:p>
        </p:txBody>
      </p:sp>
      <p:sp>
        <p:nvSpPr>
          <p:cNvPr id="5" name="Rectangle 4"/>
          <p:cNvSpPr/>
          <p:nvPr/>
        </p:nvSpPr>
        <p:spPr>
          <a:xfrm>
            <a:off x="731520" y="1188720"/>
            <a:ext cx="10698480" cy="18288"/>
          </a:xfrm>
          <a:prstGeom prst="rect">
            <a:avLst/>
          </a:prstGeom>
          <a:solidFill>
            <a:srgbClr val="1D26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645920"/>
            <a:ext cx="5120640" cy="4572000"/>
          </a:xfrm>
          <a:prstGeom prst="rect">
            <a:avLst/>
          </a:prstGeom>
          <a:noFill/>
        </p:spPr>
        <p:txBody>
          <a:bodyPr wrap="square">
            <a:spAutoFit/>
          </a:bodyPr>
          <a:lstStyle/>
          <a:p>
            <a:pPr>
              <a:spcAft>
                <a:spcPts val="600"/>
              </a:spcAft>
              <a:defRPr sz="1300">
                <a:solidFill>
                  <a:srgbClr val="FFFFFF"/>
                </a:solidFill>
                <a:latin typeface="Arial"/>
              </a:defRPr>
            </a:pPr>
            <a:r>
              <a:t>**Mô phỏng cơ chế phao đo nước cơ học:**</a:t>
            </a:r>
          </a:p>
          <a:p>
            <a:pPr lvl="2">
              <a:spcAft>
                <a:spcPts val="600"/>
              </a:spcAft>
              <a:defRPr sz="1300">
                <a:solidFill>
                  <a:srgbClr val="B0BEC5"/>
                </a:solidFill>
                <a:latin typeface="Arial"/>
              </a:defRPr>
            </a:pPr>
            <a:r>
              <a:t>Một phao nhựa 3D được thiết kế đặt trong bể chứa dung dịch dinh dưỡng.</a:t>
            </a:r>
          </a:p>
          <a:p>
            <a:pPr lvl="2">
              <a:spcAft>
                <a:spcPts val="600"/>
              </a:spcAft>
              <a:defRPr sz="1300">
                <a:solidFill>
                  <a:srgbClr val="B0BEC5"/>
                </a:solidFill>
                <a:latin typeface="Arial"/>
              </a:defRPr>
            </a:pPr>
            <a:r>
              <a:t>Phao được gán khớp tịnh tiến đứng (Prismatic Joint) và có lực đẩy nổi ảo khi các hạt chất lỏng dâng lên.</a:t>
            </a:r>
          </a:p>
          <a:p>
            <a:pPr lvl="2">
              <a:spcAft>
                <a:spcPts val="600"/>
              </a:spcAft>
              <a:defRPr sz="1300">
                <a:solidFill>
                  <a:srgbClr val="B0BEC5"/>
                </a:solidFill>
                <a:latin typeface="Arial"/>
              </a:defRPr>
            </a:pPr>
            <a:r>
              <a:t>Khi mức nước (hạt chất lỏng) dâng cao, phao cơ học tự động trượt lên trên dọc theo trục Prismatic Joint.</a:t>
            </a:r>
          </a:p>
          <a:p>
            <a:pPr>
              <a:spcAft>
                <a:spcPts val="600"/>
              </a:spcAft>
              <a:defRPr sz="1300">
                <a:solidFill>
                  <a:srgbClr val="B0BEC5"/>
                </a:solidFill>
                <a:latin typeface="Arial"/>
              </a:defRPr>
            </a:pPr>
          </a:p>
          <a:p>
            <a:pPr>
              <a:spcAft>
                <a:spcPts val="600"/>
              </a:spcAft>
              <a:defRPr sz="1300">
                <a:solidFill>
                  <a:srgbClr val="FFFFFF"/>
                </a:solidFill>
                <a:latin typeface="Arial"/>
              </a:defRPr>
            </a:pPr>
            <a:r>
              <a:t>**Mô phỏng cảm biến tiệm cận ảo (Giả lập cảm biến Y26):**</a:t>
            </a:r>
          </a:p>
          <a:p>
            <a:pPr lvl="2">
              <a:spcAft>
                <a:spcPts val="600"/>
              </a:spcAft>
              <a:defRPr sz="1300">
                <a:solidFill>
                  <a:srgbClr val="B0BEC5"/>
                </a:solidFill>
                <a:latin typeface="Arial"/>
              </a:defRPr>
            </a:pPr>
            <a:r>
              <a:t>Đặt 4 cảm biến va chạm ảo (Collision Sensor) tương ứng với 4 cao độ nước đầy/cạn khác nhau trong bể chứa ảo.</a:t>
            </a:r>
          </a:p>
          <a:p>
            <a:pPr lvl="2">
              <a:spcAft>
                <a:spcPts val="600"/>
              </a:spcAft>
              <a:defRPr sz="1300">
                <a:solidFill>
                  <a:srgbClr val="B0BEC5"/>
                </a:solidFill>
                <a:latin typeface="Arial"/>
              </a:defRPr>
            </a:pPr>
            <a:r>
              <a:t>Các cảm biến va chạm này hoạt động bằng cách phát hiện sự giao thoa không gian hình học (Collision) với phao nhựa ảo hoặc với các hạt chất lỏng dâng lên.</a:t>
            </a:r>
          </a:p>
        </p:txBody>
      </p:sp>
      <p:sp>
        <p:nvSpPr>
          <p:cNvPr id="7" name="TextBox 6"/>
          <p:cNvSpPr txBox="1"/>
          <p:nvPr/>
        </p:nvSpPr>
        <p:spPr>
          <a:xfrm>
            <a:off x="6217920" y="1645920"/>
            <a:ext cx="5212080" cy="4572000"/>
          </a:xfrm>
          <a:prstGeom prst="rect">
            <a:avLst/>
          </a:prstGeom>
          <a:noFill/>
        </p:spPr>
        <p:txBody>
          <a:bodyPr wrap="square">
            <a:spAutoFit/>
          </a:bodyPr>
          <a:lstStyle/>
          <a:p>
            <a:pPr>
              <a:spcAft>
                <a:spcPts val="600"/>
              </a:spcAft>
              <a:defRPr sz="1300">
                <a:solidFill>
                  <a:srgbClr val="FFFFFF"/>
                </a:solidFill>
                <a:latin typeface="Arial"/>
              </a:defRPr>
            </a:pPr>
            <a:r>
              <a:t>**Cơ chế truyền tín hiệu phản hồi ngược:**</a:t>
            </a:r>
          </a:p>
          <a:p>
            <a:pPr lvl="2">
              <a:spcAft>
                <a:spcPts val="600"/>
              </a:spcAft>
              <a:defRPr sz="1300">
                <a:solidFill>
                  <a:srgbClr val="B0BEC5"/>
                </a:solidFill>
                <a:latin typeface="Arial"/>
              </a:defRPr>
            </a:pPr>
            <a:r>
              <a:t>Khi phao nhựa ảo dâng lên và chạm vào Collision Sensor thứ 4 (mốc nước đầy):</a:t>
            </a:r>
          </a:p>
          <a:p>
            <a:pPr>
              <a:spcAft>
                <a:spcPts val="600"/>
              </a:spcAft>
              <a:defRPr sz="1300">
                <a:solidFill>
                  <a:srgbClr val="B0BEC5"/>
                </a:solidFill>
                <a:latin typeface="Arial"/>
              </a:defRPr>
            </a:pPr>
            <a:r>
              <a:t>    - 1. Collision Sensor 3D kích hoạt trạng thái logic True.</a:t>
            </a:r>
          </a:p>
          <a:p>
            <a:pPr>
              <a:spcAft>
                <a:spcPts val="600"/>
              </a:spcAft>
              <a:defRPr sz="1300">
                <a:solidFill>
                  <a:srgbClr val="B0BEC5"/>
                </a:solidFill>
                <a:latin typeface="Arial"/>
              </a:defRPr>
            </a:pPr>
            <a:r>
              <a:t>    - 2. NX MCD ngay lập tức ghi giá trị True vào Node ID `ns=2;s=sensor.water_level_4` trên OPC UA Server.</a:t>
            </a:r>
          </a:p>
          <a:p>
            <a:pPr>
              <a:spcAft>
                <a:spcPts val="600"/>
              </a:spcAft>
              <a:defRPr sz="1300">
                <a:solidFill>
                  <a:srgbClr val="B0BEC5"/>
                </a:solidFill>
                <a:latin typeface="Arial"/>
              </a:defRPr>
            </a:pPr>
            <a:r>
              <a:t>    - 3. FastAPI Backend đang lắng nghe OPC UA Server phát hiện sự thay đổi này.</a:t>
            </a:r>
          </a:p>
          <a:p>
            <a:pPr>
              <a:spcAft>
                <a:spcPts val="600"/>
              </a:spcAft>
              <a:defRPr sz="1300">
                <a:solidFill>
                  <a:srgbClr val="B0BEC5"/>
                </a:solidFill>
                <a:latin typeface="Arial"/>
              </a:defRPr>
            </a:pPr>
            <a:r>
              <a:t>    - 4. FastAPI bóc tách dữ liệu và đẩy bản tin qua WebSocket tới Web UI.</a:t>
            </a:r>
          </a:p>
          <a:p>
            <a:pPr>
              <a:spcAft>
                <a:spcPts val="600"/>
              </a:spcAft>
              <a:defRPr sz="1300">
                <a:solidFill>
                  <a:srgbClr val="B0BEC5"/>
                </a:solidFill>
                <a:latin typeface="Arial"/>
              </a:defRPr>
            </a:pPr>
            <a:r>
              <a:t>    - 5. Web UI lập tức nhấp nháy đèn cảnh báo đỏ và hiển thị trạng thái "Bể nước đầy" trên Dashboard.</a:t>
            </a:r>
          </a:p>
          <a:p>
            <a:pPr lvl="2">
              <a:spcAft>
                <a:spcPts val="600"/>
              </a:spcAft>
              <a:defRPr sz="1300">
                <a:solidFill>
                  <a:srgbClr val="B0BEC5"/>
                </a:solidFill>
                <a:latin typeface="Arial"/>
              </a:defRPr>
            </a:pPr>
            <a:r>
              <a:t>Thể hiện sự khép kín của vòng lặp điều khiển và giám sát thực - ảo hai chiều.</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51B24"/>
        </a:solidFill>
        <a:effectLst/>
      </p:bgPr>
    </p:bg>
    <p:spTree>
      <p:nvGrpSpPr>
        <p:cNvPr id="1" name=""/>
        <p:cNvGrpSpPr/>
        <p:nvPr/>
      </p:nvGrpSpPr>
      <p:grpSpPr/>
      <p:sp>
        <p:nvSpPr>
          <p:cNvPr id="2" name="Rectangle 1"/>
          <p:cNvSpPr/>
          <p:nvPr/>
        </p:nvSpPr>
        <p:spPr>
          <a:xfrm>
            <a:off x="731520" y="365760"/>
            <a:ext cx="137160" cy="73152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320040"/>
            <a:ext cx="9144000" cy="228600"/>
          </a:xfrm>
          <a:prstGeom prst="rect">
            <a:avLst/>
          </a:prstGeom>
          <a:noFill/>
        </p:spPr>
        <p:txBody>
          <a:bodyPr wrap="square" lIns="0" rIns="0" tIns="0" bIns="0">
            <a:spAutoFit/>
          </a:bodyPr>
          <a:lstStyle/>
          <a:p>
            <a:pPr>
              <a:defRPr sz="1000" b="1">
                <a:solidFill>
                  <a:srgbClr val="2ECC71"/>
                </a:solidFill>
                <a:latin typeface="Arial"/>
              </a:defRPr>
            </a:pPr>
            <a:r>
              <a:t>TỔNG KẾT</a:t>
            </a:r>
          </a:p>
        </p:txBody>
      </p:sp>
      <p:sp>
        <p:nvSpPr>
          <p:cNvPr id="4" name="TextBox 3"/>
          <p:cNvSpPr txBox="1"/>
          <p:nvPr/>
        </p:nvSpPr>
        <p:spPr>
          <a:xfrm>
            <a:off x="1005840" y="502920"/>
            <a:ext cx="10058400" cy="548640"/>
          </a:xfrm>
          <a:prstGeom prst="rect">
            <a:avLst/>
          </a:prstGeom>
          <a:noFill/>
        </p:spPr>
        <p:txBody>
          <a:bodyPr wrap="square" lIns="0" rIns="0" tIns="0" bIns="0">
            <a:spAutoFit/>
          </a:bodyPr>
          <a:lstStyle/>
          <a:p>
            <a:pPr>
              <a:defRPr sz="2400" b="1">
                <a:solidFill>
                  <a:srgbClr val="FFFFFF"/>
                </a:solidFill>
                <a:latin typeface="Arial"/>
              </a:defRPr>
            </a:pPr>
            <a:r>
              <a:t>Kết Luận &amp; Hướng Phát Triển Đề Tài</a:t>
            </a:r>
          </a:p>
        </p:txBody>
      </p:sp>
      <p:sp>
        <p:nvSpPr>
          <p:cNvPr id="5" name="Rectangle 4"/>
          <p:cNvSpPr/>
          <p:nvPr/>
        </p:nvSpPr>
        <p:spPr>
          <a:xfrm>
            <a:off x="731520" y="1188720"/>
            <a:ext cx="10698480" cy="18288"/>
          </a:xfrm>
          <a:prstGeom prst="rect">
            <a:avLst/>
          </a:prstGeom>
          <a:solidFill>
            <a:srgbClr val="1D26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645920"/>
            <a:ext cx="5120640" cy="4572000"/>
          </a:xfrm>
          <a:prstGeom prst="rect">
            <a:avLst/>
          </a:prstGeom>
          <a:noFill/>
        </p:spPr>
        <p:txBody>
          <a:bodyPr wrap="square">
            <a:spAutoFit/>
          </a:bodyPr>
          <a:lstStyle/>
          <a:p>
            <a:pPr>
              <a:spcAft>
                <a:spcPts val="600"/>
              </a:spcAft>
              <a:defRPr sz="1300">
                <a:solidFill>
                  <a:srgbClr val="FFFFFF"/>
                </a:solidFill>
                <a:latin typeface="Arial"/>
              </a:defRPr>
            </a:pPr>
            <a:r>
              <a:t>**Các kết quả đạt được của đồ án:**</a:t>
            </a:r>
          </a:p>
          <a:p>
            <a:pPr lvl="2">
              <a:spcAft>
                <a:spcPts val="600"/>
              </a:spcAft>
              <a:defRPr sz="1300">
                <a:solidFill>
                  <a:srgbClr val="B0BEC5"/>
                </a:solidFill>
                <a:latin typeface="Arial"/>
              </a:defRPr>
            </a:pPr>
            <a:r>
              <a:t>**Thiết kế hệ thống SIL (Software-in-the-Loop) hoàn chỉnh:** Cho phép thử nghiệm, tối ưu hóa các thuật toán điều khiển và chẩn đoán AI mà không cần lắp đặt phần cứng thực tế, giảm thiểu rủi ro hỏng hóc và chi phí thử nghiệm.</a:t>
            </a:r>
          </a:p>
          <a:p>
            <a:pPr lvl="2">
              <a:spcAft>
                <a:spcPts val="600"/>
              </a:spcAft>
              <a:defRPr sz="1300">
                <a:solidFill>
                  <a:srgbClr val="B0BEC5"/>
                </a:solidFill>
                <a:latin typeface="Arial"/>
              </a:defRPr>
            </a:pPr>
            <a:r>
              <a:t>**Hệ thống Backend &amp; Database mạnh mẽ:** FastAPI điều phối dữ liệu với độ trễ thấp (&lt; 100ms), InfluxDB lưu trữ dữ liệu chuỗi thời gian tối ưu hóa dung lượng thẻ nhớ cho Pi.</a:t>
            </a:r>
          </a:p>
          <a:p>
            <a:pPr lvl="2">
              <a:spcAft>
                <a:spcPts val="600"/>
              </a:spcAft>
              <a:defRPr sz="1300">
                <a:solidFill>
                  <a:srgbClr val="B0BEC5"/>
                </a:solidFill>
                <a:latin typeface="Arial"/>
              </a:defRPr>
            </a:pPr>
            <a:r>
              <a:t>**Tích hợp mô hình AI thực tế:** CNN MobileNetV2 lượng tử hóa chạy mượt mà dưới 10MB trên Pi cho kết quả chẩn đoán nhanh. XGBoost dự báo chính xác ngày thu hoạch.</a:t>
            </a:r>
          </a:p>
          <a:p>
            <a:pPr lvl="2">
              <a:spcAft>
                <a:spcPts val="600"/>
              </a:spcAft>
              <a:defRPr sz="1300">
                <a:solidFill>
                  <a:srgbClr val="B0BEC5"/>
                </a:solidFill>
                <a:latin typeface="Arial"/>
              </a:defRPr>
            </a:pPr>
            <a:r>
              <a:t>**Bản sao số 3D sinh động:** Siemens NX MCD mô phỏng chân thực động học, chất lỏng và scale kích thước cây theo AI.</a:t>
            </a:r>
          </a:p>
        </p:txBody>
      </p:sp>
      <p:sp>
        <p:nvSpPr>
          <p:cNvPr id="7" name="TextBox 6"/>
          <p:cNvSpPr txBox="1"/>
          <p:nvPr/>
        </p:nvSpPr>
        <p:spPr>
          <a:xfrm>
            <a:off x="6217920" y="1645920"/>
            <a:ext cx="5212080" cy="4572000"/>
          </a:xfrm>
          <a:prstGeom prst="rect">
            <a:avLst/>
          </a:prstGeom>
          <a:noFill/>
        </p:spPr>
        <p:txBody>
          <a:bodyPr wrap="square">
            <a:spAutoFit/>
          </a:bodyPr>
          <a:lstStyle/>
          <a:p>
            <a:pPr>
              <a:spcAft>
                <a:spcPts val="600"/>
              </a:spcAft>
              <a:defRPr sz="1300">
                <a:solidFill>
                  <a:srgbClr val="FFFFFF"/>
                </a:solidFill>
                <a:latin typeface="Arial"/>
              </a:defRPr>
            </a:pPr>
            <a:r>
              <a:t>**Hướng phát triển tiếp theo:**</a:t>
            </a:r>
          </a:p>
          <a:p>
            <a:pPr lvl="2">
              <a:spcAft>
                <a:spcPts val="600"/>
              </a:spcAft>
              <a:defRPr sz="1300">
                <a:solidFill>
                  <a:srgbClr val="B0BEC5"/>
                </a:solidFill>
                <a:latin typeface="Arial"/>
              </a:defRPr>
            </a:pPr>
            <a:r>
              <a:t>**Đấu nối phần cứng thật (Hardware-in-the-Loop - HIL):** Thiết lập và chế tạo mạch PCB ESP32-S3 thực tế để thu thập dữ liệu cảm biến thực và điều khiển các thiết bị thật (quạt, bơm, LED thật).</a:t>
            </a:r>
          </a:p>
          <a:p>
            <a:pPr lvl="2">
              <a:spcAft>
                <a:spcPts val="600"/>
              </a:spcAft>
              <a:defRPr sz="1300">
                <a:solidFill>
                  <a:srgbClr val="B0BEC5"/>
                </a:solidFill>
                <a:latin typeface="Arial"/>
              </a:defRPr>
            </a:pPr>
            <a:r>
              <a:t>**Hiệu chuẩn mô hình AI (Calibration):** Tiếp tục thu thập thêm ảnh lá bệnh thực tế tại vườn để tăng cường độ chính xác cho mô hình CNN. Thu thập dữ liệu thực tế nhiều vụ trồng xà lách để hiệu chỉnh mô hình XGBoost.</a:t>
            </a:r>
          </a:p>
          <a:p>
            <a:pPr lvl="2">
              <a:spcAft>
                <a:spcPts val="600"/>
              </a:spcAft>
              <a:defRPr sz="1300">
                <a:solidFill>
                  <a:srgbClr val="B0BEC5"/>
                </a:solidFill>
                <a:latin typeface="Arial"/>
              </a:defRPr>
            </a:pPr>
            <a:r>
              <a:t>**Mở rộng mô phỏng vật lý:** Mô phỏng nâng cao ảnh hưởng của lưu lượng gió từ quạt đến sự giảm nhiệt độ và độ ẩm ảo trong NX MCD bằng cách kết hợp giải thuật CFD (Computational Fluid Dynamics) đơn giản hóa.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